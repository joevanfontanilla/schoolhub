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5c2ef299-d171-fca8-944d-ac7c6c7f35c0}">
          <p14:sldIdLst>
            <p14:sldId id="256"/>
            <p14:sldId id="257"/>
            <p14:sldId id="258"/>
          </p14:sldIdLst>
        </p14:section>
        <p14:section name="The system" id="{ca12eb46-c574-2371-b550-45b38622d655}">
          <p14:sldIdLst>
            <p14:sldId id="259"/>
            <p14:sldId id="260"/>
            <p14:sldId id="261"/>
            <p14:sldId id="262"/>
            <p14:sldId id="263"/>
            <p14:sldId id="264"/>
          </p14:sldIdLst>
        </p14:section>
        <p14:section name="Trust and launch" id="{dc14bce4-4a36-f79a-8441-abaaf1862b4a}">
          <p14:sldIdLst>
            <p14:sldId id="265"/>
            <p14:sldId id="266"/>
            <p14:sldId id="267"/>
            <p14:sldId id="268"/>
          </p14:sldIdLst>
        </p14:section>
        <p14:section name="Close" id="{955d1ad6-8fb7-44fb-fc6d-f5c12b3b4703}">
          <p14:sldIdLst>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day, everyone. We are the SchoolHub team, and we are presenting SchoolHub, an enrollment and school management system built for Lyceum of the East Aurora Inc.
In the next fifteen minutes we will show you what it does, how it keeps records safe, and what it would take to use it at the school. We will follow one student, Maria, through the whole process, so you can see how the pieces fit together.
Please keep your questions for the end. We will also be glad to show the system live.
Our team members are Shella Erika Gomez, Juvirena P. Pascual, Chunlie L. Martinez, Kyla J. Verial, Carlo Jay I. Villaflor, and John Carmel M. Galande.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start with the problem. Today, a lot of school office work depends on counters, paper, and spreadsheets. Think of enrollment week. A student enrolls at one window, pays at another, and the cashier writes the payment into an Excel ledger. The registrar keeps the requirements in folders.
That causes three problems. First, it is slow: students line up, and staff type the same information again and again. Second, it is easy to make mistakes, like a wrong amount, a missing document, or a payment recorded in the wrong account. Third, it is hard to check. When someone asks who approved this, or whether an ID is real, the answer is buried in paper.
SchoolHub is built to fix those three things, one by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is SchoolHub? It is one web system for the whole school office. This is its front page, the one the public sees. Students can apply online, upload their documents, pay, and see their schedule and grades.
Staff work in the same system, but each from a portal with only the tools they need. It also serves walk-in students, because not everyone has a phone or internet at home, and the counter must keep working.
Nothing special is needed to use it. It runs in a browser, on a computer or a phone, so there is nothing to install.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journey, using Maria as our example. Maria applies, online or at the counter. The registrar checks her documents, and either approves, or sends the application back with a reason she can read.
When it is approved, Maria gets a section, and her fee assessment is created automatically from the school's fee schedule, so nobody computes it by hand. She pays, online with proof or at the cashier, and the cashier issues an official receipt.
When the payment policy is met, Maria is officially enrolled and receives a student number. The important part is the line at the bottom of the slide: every step records who did it and when, so nothing depends on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five kinds of users, and each has a separate portal. Students apply, pay, and view their records. Teachers record attendance and grades for their own classes.
The registrar handles enrollment, sections, the curriculum, and academic records. The cashier handles fees, payments, receipts, and the books. The administrator manages accounts, settings, backups, and the audit log.
The key idea is that nobody sees more than their job needs. A teacher cannot open payments, and a cashier cannot change grades. That protects the students, and it also protects the staff.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show the counter. Walk-in enrollment was built for the registrar. The registrar enters the applicant once, and the form checks everything in a single pass. It shows every missing field at the same time, instead of one mistake per click, which is what used to waste the most time.
It also warns if the person is already registered, and returning students are found by name or number, so no second account is made. Then the registrar ticks the documents received in person, can take the applicant's photo, and submits. The application goes straight to review, because the registrar already saw the originals.
And the student receives a one-time link to choose their own password. No password is ever shared or written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Maria goes to the cashier. The cashier's window shows everything on one screen: the installments, which are the initial payment, prelims, midterm, semi-final, and finals, and underneath, where each peso went. Quick buttons fill in the amount, either the next installment or the full balance, so the cashier does not type it.
Every payment gets a numbered official receipt, and a reprint is marked as a duplicate. Mistakes are never deleted. A payment is reversed with a written reason, and the reversal is recorded beside the original, so the history stays honest.
At the end of the day, the cashier counts the drawer, the system shows any difference, and the day is closed and locked. The cashier can also send a reminder to students who are due, and it appears in their portal.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Maria's payment is already in the cashier's books. This part was modeled on the school's own Excel ledger. The general ledger and the trial balance are computed from the real records, so they always agree with the receipts and vouchers. There is nothing to retype.
The cash book uses the two-sided format the office already knows: cash in on the left, cash out on the right, with the balance carried forward. Opening balances and bank deposits are entered once, and you can see Maria's two cash payments on the left.
The payment breakdown report shows how much went to tuition, registration, and each other fee, by payment method and by day. Because the totals come from the same records, they cannot drift apart.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that Maria is enrolled, she can have an e-ID with a QR code. On the left is the card, front and back. When a guard or an office scans the code with a phone, the school's website opens, as you see on the right, and says Valid or Not valid, with the photo, name, ID number, and program. Nothing else. No birthday, no address, no grades.
The code is a long random string, not the student number, so IDs cannot be guessed. If a card is lost, the registrar reissues it, and the old QR stops working immediately.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panel will care about security, so let us be specific. Access is by role and permission, and it is checked on every page, not only hidden in the menu. Passwords are stored hashed, accounts lock after repeated failures, and sessions expire when idle.
Uploaded files are stored privately and only shown to people who are allowed to see them. Every important action is written to an audit log that cannot be edited. Forms are protected against forged requests, and the system is tested against injection attacks.
For data privacy under RA 10173, the system records consent, collects only what it needs, and the public verification page shows the minimum.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 we know it works? We treated this like a real system. Every feature is written in the documentation first, 30 documents in all, and then built.
There are 399 automated tests, plus a crawler that opens every page as every role, 2,703 checks, including attacks such as forged forms and injection attempts. The system uses no outside software libraries that could go out of date or be abandoned.
Updates reach the live site by a tested routine: back up, run the database script, upload the files. We test that script on a copy first, so the live records are never the first place a change is tried.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SchoolHub is already running on a free hosting service as a pilot, and it works from enrollment to payment.
For real use, the cost is small. A domain name is about 700 to 1,200 pesos a year. Good shared hosting, with backups and scheduled jobs, is about 1,800 to 5,000 pesos a year. Email can be free or cost up to 1,500. So the total is roughly 3,000 to 8,000 pesos a year. These figures are estimates and should be confirmed before buying.
Compare that with the staff time spent on manual entry, and with the risk of mistakes in money records. There is also no per-student license fee, and the school owns the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want to be honest about the limits, because you should know them before deciding. Email is switched off on the pilot, so password links are handed over directly instead of emailed. Walk-in students are not affected, but password help goes through the administrator.
The free hosting is fine for a pilot, but not for real student records, so the next step is proper hosting, preferably with the data kept in the Philippines. The fee amounts for programs other than Public Administration still need to be entered. The e-signature is an image of a signature, not a legal digital signature. And the system is for one school.
The next steps are on the right: set up email, move to paid hosting, load every fee schedule, train the registrar and the cashier, and run one term as a supervised 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time. SchoolHub is built to make enrollment faster, payments clearer, and records easier to trust.
We are happy to answer your questions, and we can show the system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73F63"/>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chemeClr val="tx2"/>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00800"/>
            <a:ext cx="6400800" cy="274320"/>
          </a:xfrm>
          <a:prstGeom prst="rect">
            <a:avLst/>
          </a:prstGeom>
          <a:noFill/>
          <a:ln/>
        </p:spPr>
        <p:txBody>
          <a:bodyPr wrap="square" lIns="0" tIns="0" rIns="0" bIns="0" rtlCol="0" anchor="ctr"/>
          <a:lstStyle/>
          <a:p>
            <a:pPr indent="0" marL="0">
              <a:buNone/>
            </a:pPr>
            <a:r>
              <a:rPr lang="en-US" sz="1000" dirty="0">
                <a:solidFill>
                  <a:schemeClr val="accent6"/>
                </a:solidFill>
                <a:latin typeface="Calibri" pitchFamily="34" charset="0"/>
                <a:ea typeface="Calibri" pitchFamily="34" charset="-122"/>
                <a:cs typeface="Calibri" pitchFamily="34" charset="-120"/>
              </a:rPr>
              <a:t>SchoolHub  ·  Lyceum of the East Aurora Inc.</a:t>
            </a:r>
            <a:endParaRPr lang="en-US" sz="1000" dirty="0"/>
          </a:p>
        </p:txBody>
      </p:sp>
      <p:sp>
        <p:nvSpPr>
          <p:cNvPr id="3" name="Text 1"/>
          <p:cNvSpPr/>
          <p:nvPr>
            <p:ph idx="101" type="title" hasCustomPrompt="1"/>
          </p:nvPr>
        </p:nvSpPr>
        <p:spPr>
          <a:xfrm>
            <a:off x="548640" y="365760"/>
            <a:ext cx="11091672" cy="868680"/>
          </a:xfrm>
          <a:prstGeom prst="rect">
            <a:avLst/>
          </a:prstGeom>
          <a:noFill/>
          <a:ln/>
        </p:spPr>
        <p:txBody>
          <a:bodyPr wrap="square" rtlCol="0"/>
          <a:lstStyle>
            <a:lvl1pPr algn="l" indent="0" marL="0">
              <a:buNone/>
              <a:defRPr lang="en-US" sz="32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jpe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jpeg"/><Relationship Id="rId6" Type="http://schemas.openxmlformats.org/officeDocument/2006/relationships/slideLayout" Target="../slideLayouts/slideLayout3.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3.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image" Target="../media/image-8-2.jpe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jpeg"/><Relationship Id="rId6" Type="http://schemas.openxmlformats.org/officeDocument/2006/relationships/slideLayout" Target="../slideLayouts/slideLayout3.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3.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image" Target="../media/image-14-2.jpeg"/><Relationship Id="rId3" Type="http://schemas.openxmlformats.org/officeDocument/2006/relationships/slideLayout" Target="../slideLayouts/slideLayout2.xml"/><Relationship Id="rId4"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School seal" descr="School seal">    </p:cNvPr>
          <p:cNvPicPr>
            <a:picLocks noChangeAspect="1"/>
          </p:cNvPicPr>
          <p:nvPr/>
        </p:nvPicPr>
        <p:blipFill>
          <a:blip r:embed="rId1"/>
          <a:stretch>
            <a:fillRect/>
          </a:stretch>
        </p:blipFill>
        <p:spPr>
          <a:xfrm>
            <a:off x="548640" y="502920"/>
            <a:ext cx="868680" cy="868680"/>
          </a:xfrm>
          <a:prstGeom prst="ellipse">
            <a:avLst/>
          </a:prstGeom>
        </p:spPr>
      </p:pic>
      <p:sp>
        <p:nvSpPr>
          <p:cNvPr id="3" name="School name"/>
          <p:cNvSpPr txBox="1"/>
          <p:nvPr/>
        </p:nvSpPr>
        <p:spPr>
          <a:xfrm>
            <a:off x="1600200" y="594360"/>
            <a:ext cx="5029200" cy="685800"/>
          </a:xfrm>
          <a:prstGeom prst="rect">
            <a:avLst/>
          </a:prstGeom>
          <a:noFill/>
          <a:ln/>
        </p:spPr>
        <p:txBody>
          <a:bodyPr wrap="square" lIns="0" tIns="0" rIns="0" bIns="0" rtlCol="0" anchor="ctr"/>
          <a:lstStyle/>
          <a:p>
            <a:pPr indent="0" marL="0">
              <a:buNone/>
            </a:pPr>
            <a:r>
              <a:rPr lang="en-US" sz="1800" b="1" dirty="0">
                <a:solidFill>
                  <a:schemeClr val="bg1"/>
                </a:solidFill>
              </a:rPr>
              <a:t>Lyceum of the East Aurora Inc.</a:t>
            </a:r>
            <a:endParaRPr lang="en-US" sz="1800" dirty="0"/>
          </a:p>
        </p:txBody>
      </p:sp>
      <p:sp>
        <p:nvSpPr>
          <p:cNvPr id="4" name="Title"/>
          <p:cNvSpPr txBox="1"/>
          <p:nvPr/>
        </p:nvSpPr>
        <p:spPr>
          <a:xfrm>
            <a:off x="548640" y="1874520"/>
            <a:ext cx="5852160" cy="1143000"/>
          </a:xfrm>
          <a:prstGeom prst="rect">
            <a:avLst/>
          </a:prstGeom>
          <a:noFill/>
          <a:ln/>
        </p:spPr>
        <p:txBody>
          <a:bodyPr wrap="square" lIns="0" tIns="0" rIns="0" bIns="0" rtlCol="0" anchor="ctr"/>
          <a:lstStyle/>
          <a:p>
            <a:pPr indent="0" marL="0">
              <a:buNone/>
            </a:pPr>
            <a:r>
              <a:rPr lang="en-US" sz="6600" b="1" dirty="0">
                <a:solidFill>
                  <a:schemeClr val="bg1"/>
                </a:solidFill>
                <a:latin typeface="Cambria" pitchFamily="34" charset="0"/>
                <a:ea typeface="Cambria" pitchFamily="34" charset="-122"/>
                <a:cs typeface="Cambria" pitchFamily="34" charset="-120"/>
              </a:rPr>
              <a:t>SchoolHub</a:t>
            </a:r>
            <a:endParaRPr lang="en-US" sz="6600" dirty="0"/>
          </a:p>
        </p:txBody>
      </p:sp>
      <p:sp>
        <p:nvSpPr>
          <p:cNvPr id="5" name="Subtitle"/>
          <p:cNvSpPr txBox="1"/>
          <p:nvPr/>
        </p:nvSpPr>
        <p:spPr>
          <a:xfrm>
            <a:off x="548640" y="3063240"/>
            <a:ext cx="5669280" cy="914400"/>
          </a:xfrm>
          <a:prstGeom prst="rect">
            <a:avLst/>
          </a:prstGeom>
          <a:noFill/>
          <a:ln/>
        </p:spPr>
        <p:txBody>
          <a:bodyPr wrap="square" lIns="0" tIns="0" rIns="0" bIns="0" rtlCol="0" anchor="t"/>
          <a:lstStyle/>
          <a:p>
            <a:pPr indent="0" marL="0">
              <a:buNone/>
            </a:pPr>
            <a:r>
              <a:rPr lang="en-US" sz="2600" dirty="0">
                <a:solidFill>
                  <a:schemeClr val="accent2"/>
                </a:solidFill>
              </a:rPr>
              <a:t>Enrollment and School Management System</a:t>
            </a:r>
            <a:endParaRPr lang="en-US" sz="2600" dirty="0"/>
          </a:p>
        </p:txBody>
      </p:sp>
      <p:sp>
        <p:nvSpPr>
          <p:cNvPr id="6" name="Presented by"/>
          <p:cNvSpPr txBox="1"/>
          <p:nvPr/>
        </p:nvSpPr>
        <p:spPr>
          <a:xfrm>
            <a:off x="548640" y="4343400"/>
            <a:ext cx="5486400" cy="274320"/>
          </a:xfrm>
          <a:prstGeom prst="rect">
            <a:avLst/>
          </a:prstGeom>
          <a:noFill/>
          <a:ln/>
        </p:spPr>
        <p:txBody>
          <a:bodyPr wrap="square" lIns="0" tIns="0" rIns="0" bIns="0" rtlCol="0" anchor="ctr"/>
          <a:lstStyle/>
          <a:p>
            <a:pPr indent="0" marL="0">
              <a:buNone/>
            </a:pPr>
            <a:r>
              <a:rPr lang="en-US" sz="1300" b="1" spc="200" kern="0" dirty="0">
                <a:solidFill>
                  <a:schemeClr val="accent2"/>
                </a:solidFill>
              </a:rPr>
              <a:t>PRESENTED BY</a:t>
            </a:r>
            <a:endParaRPr lang="en-US" sz="1300" dirty="0"/>
          </a:p>
        </p:txBody>
      </p:sp>
      <p:sp>
        <p:nvSpPr>
          <p:cNvPr id="7" name="Team column 1"/>
          <p:cNvSpPr txBox="1"/>
          <p:nvPr/>
        </p:nvSpPr>
        <p:spPr>
          <a:xfrm>
            <a:off x="548640" y="4709160"/>
            <a:ext cx="2834640" cy="1051560"/>
          </a:xfrm>
          <a:prstGeom prst="rect">
            <a:avLst/>
          </a:prstGeom>
          <a:noFill/>
          <a:ln/>
        </p:spPr>
        <p:txBody>
          <a:bodyPr wrap="square" lIns="0" tIns="0" rIns="0" bIns="0" rtlCol="0" anchor="t"/>
          <a:lstStyle/>
          <a:p>
            <a:pPr indent="0" marL="0">
              <a:spcAft>
                <a:spcPts val="200"/>
              </a:spcAft>
              <a:buNone/>
            </a:pPr>
            <a:r>
              <a:rPr lang="en-US" sz="1600" dirty="0">
                <a:solidFill>
                  <a:schemeClr val="bg1"/>
                </a:solidFill>
              </a:rPr>
              <a:t>Shella Erika Gomez</a:t>
            </a:r>
            <a:endParaRPr lang="en-US" sz="1600" dirty="0"/>
          </a:p>
          <a:p>
            <a:pPr indent="0" marL="0">
              <a:spcAft>
                <a:spcPts val="200"/>
              </a:spcAft>
              <a:buNone/>
            </a:pPr>
            <a:r>
              <a:rPr lang="en-US" sz="1600" dirty="0">
                <a:solidFill>
                  <a:schemeClr val="bg1"/>
                </a:solidFill>
              </a:rPr>
              <a:t>Juvirena P. Pascual</a:t>
            </a:r>
            <a:endParaRPr lang="en-US" sz="1600" dirty="0"/>
          </a:p>
          <a:p>
            <a:pPr indent="0" marL="0">
              <a:spcAft>
                <a:spcPts val="200"/>
              </a:spcAft>
              <a:buNone/>
            </a:pPr>
            <a:r>
              <a:rPr lang="en-US" sz="1600" dirty="0">
                <a:solidFill>
                  <a:schemeClr val="bg1"/>
                </a:solidFill>
              </a:rPr>
              <a:t>Chunlie L. Martinez</a:t>
            </a:r>
            <a:endParaRPr lang="en-US" sz="1600" dirty="0"/>
          </a:p>
        </p:txBody>
      </p:sp>
      <p:sp>
        <p:nvSpPr>
          <p:cNvPr id="8" name="Team column 2"/>
          <p:cNvSpPr txBox="1"/>
          <p:nvPr/>
        </p:nvSpPr>
        <p:spPr>
          <a:xfrm>
            <a:off x="3474720" y="4709160"/>
            <a:ext cx="2834640" cy="1051560"/>
          </a:xfrm>
          <a:prstGeom prst="rect">
            <a:avLst/>
          </a:prstGeom>
          <a:noFill/>
          <a:ln/>
        </p:spPr>
        <p:txBody>
          <a:bodyPr wrap="square" lIns="0" tIns="0" rIns="0" bIns="0" rtlCol="0" anchor="t"/>
          <a:lstStyle/>
          <a:p>
            <a:pPr indent="0" marL="0">
              <a:spcAft>
                <a:spcPts val="200"/>
              </a:spcAft>
              <a:buNone/>
            </a:pPr>
            <a:r>
              <a:rPr lang="en-US" sz="1600" dirty="0">
                <a:solidFill>
                  <a:schemeClr val="bg1"/>
                </a:solidFill>
              </a:rPr>
              <a:t>Kyla J. Verial</a:t>
            </a:r>
            <a:endParaRPr lang="en-US" sz="1600" dirty="0"/>
          </a:p>
          <a:p>
            <a:pPr indent="0" marL="0">
              <a:spcAft>
                <a:spcPts val="200"/>
              </a:spcAft>
              <a:buNone/>
            </a:pPr>
            <a:r>
              <a:rPr lang="en-US" sz="1600" dirty="0">
                <a:solidFill>
                  <a:schemeClr val="bg1"/>
                </a:solidFill>
              </a:rPr>
              <a:t>Carlo Jay I. Villaflor</a:t>
            </a:r>
            <a:endParaRPr lang="en-US" sz="1600" dirty="0"/>
          </a:p>
          <a:p>
            <a:pPr indent="0" marL="0">
              <a:spcAft>
                <a:spcPts val="200"/>
              </a:spcAft>
              <a:buNone/>
            </a:pPr>
            <a:r>
              <a:rPr lang="en-US" sz="1600" dirty="0">
                <a:solidFill>
                  <a:schemeClr val="bg1"/>
                </a:solidFill>
              </a:rPr>
              <a:t>John Carmel M. Galande</a:t>
            </a:r>
            <a:endParaRPr lang="en-US" sz="1600" dirty="0"/>
          </a:p>
        </p:txBody>
      </p:sp>
      <p:sp>
        <p:nvSpPr>
          <p:cNvPr id="9" name="Course and date"/>
          <p:cNvSpPr txBox="1"/>
          <p:nvPr/>
        </p:nvSpPr>
        <p:spPr>
          <a:xfrm>
            <a:off x="548640" y="5897880"/>
            <a:ext cx="5852160" cy="365760"/>
          </a:xfrm>
          <a:prstGeom prst="rect">
            <a:avLst/>
          </a:prstGeom>
          <a:noFill/>
          <a:ln/>
        </p:spPr>
        <p:txBody>
          <a:bodyPr wrap="square" lIns="0" tIns="0" rIns="0" bIns="0" rtlCol="0" anchor="ctr"/>
          <a:lstStyle/>
          <a:p>
            <a:pPr indent="0" marL="0">
              <a:buNone/>
            </a:pPr>
            <a:r>
              <a:rPr lang="en-US" sz="1500" dirty="0">
                <a:solidFill>
                  <a:schemeClr val="accent2"/>
                </a:solidFill>
              </a:rPr>
              <a:t>Accountancy, 2nd Year   ·   October 16, 2026</a:t>
            </a:r>
            <a:endParaRPr lang="en-US" sz="1500" dirty="0"/>
          </a:p>
        </p:txBody>
      </p:sp>
      <p:sp>
        <p:nvSpPr>
          <p:cNvPr id="10" name="Landing page screenshot frame"/>
          <p:cNvSpPr/>
          <p:nvPr/>
        </p:nvSpPr>
        <p:spPr>
          <a:xfrm>
            <a:off x="6675120" y="1783080"/>
            <a:ext cx="4983480" cy="3118104"/>
          </a:xfrm>
          <a:prstGeom prst="roundRect">
            <a:avLst>
              <a:gd name="adj" fmla="val 2346"/>
            </a:avLst>
          </a:prstGeom>
          <a:solidFill>
            <a:schemeClr val="bg1"/>
          </a:solidFill>
          <a:ln w="12700">
            <a:solidFill>
              <a:srgbClr val="EAF3FB"/>
            </a:solidFill>
            <a:prstDash val="solid"/>
          </a:ln>
          <a:effectLst>
            <a:outerShdw sx="100000" sy="100000" kx="0" ky="0" algn="bl" rotWithShape="0" blurRad="101600" dist="38100" dir="5400000">
              <a:srgbClr val="000000">
                <a:alpha val="18000"/>
              </a:srgbClr>
            </a:outerShdw>
          </a:effectLst>
        </p:spPr>
      </p:sp>
      <p:pic>
        <p:nvPicPr>
          <p:cNvPr id="11" name="Landing page screenshot" descr="Landing page screenshot">    </p:cNvPr>
          <p:cNvPicPr>
            <a:picLocks noChangeAspect="1"/>
          </p:cNvPicPr>
          <p:nvPr/>
        </p:nvPicPr>
        <p:blipFill>
          <a:blip r:embed="rId2"/>
          <a:stretch>
            <a:fillRect/>
          </a:stretch>
        </p:blipFill>
        <p:spPr>
          <a:xfrm>
            <a:off x="6729984" y="1837944"/>
            <a:ext cx="4873752" cy="300837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1672" cy="86868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Today, school work lives on paper and spreadsheets</a:t>
            </a:r>
            <a:endParaRPr lang="en-US" sz="3200" dirty="0"/>
          </a:p>
        </p:txBody>
      </p:sp>
      <p:sp>
        <p:nvSpPr>
          <p:cNvPr id="4" name="Problem card 1"/>
          <p:cNvSpPr/>
          <p:nvPr/>
        </p:nvSpPr>
        <p:spPr>
          <a:xfrm>
            <a:off x="548640" y="1645920"/>
            <a:ext cx="3520440" cy="3566160"/>
          </a:xfrm>
          <a:prstGeom prst="roundRect">
            <a:avLst>
              <a:gd name="adj" fmla="val 3117"/>
            </a:avLst>
          </a:prstGeom>
          <a:solidFill>
            <a:schemeClr val="bg2"/>
          </a:solidFill>
          <a:ln/>
        </p:spPr>
      </p:sp>
      <p:sp>
        <p:nvSpPr>
          <p:cNvPr id="5" name="Slow circle"/>
          <p:cNvSpPr/>
          <p:nvPr/>
        </p:nvSpPr>
        <p:spPr>
          <a:xfrm>
            <a:off x="868680" y="1965960"/>
            <a:ext cx="868680" cy="868680"/>
          </a:xfrm>
          <a:prstGeom prst="ellipse">
            <a:avLst/>
          </a:prstGeom>
          <a:solidFill>
            <a:schemeClr val="accent1"/>
          </a:solidFill>
          <a:ln/>
        </p:spPr>
      </p:sp>
      <p:pic>
        <p:nvPicPr>
          <p:cNvPr id="6" name="Slow icon" descr="Slow">    </p:cNvPr>
          <p:cNvPicPr>
            <a:picLocks noChangeAspect="1"/>
          </p:cNvPicPr>
          <p:nvPr/>
        </p:nvPicPr>
        <p:blipFill>
          <a:blip r:embed="rId1"/>
          <a:stretch>
            <a:fillRect/>
          </a:stretch>
        </p:blipFill>
        <p:spPr>
          <a:xfrm>
            <a:off x="1103224" y="2200504"/>
            <a:ext cx="399593" cy="399593"/>
          </a:xfrm>
          <a:prstGeom prst="rect">
            <a:avLst/>
          </a:prstGeom>
        </p:spPr>
      </p:pic>
      <p:sp>
        <p:nvSpPr>
          <p:cNvPr id="7" name="Text 3"/>
          <p:cNvSpPr txBox="1"/>
          <p:nvPr/>
        </p:nvSpPr>
        <p:spPr>
          <a:xfrm>
            <a:off x="868680" y="3063240"/>
            <a:ext cx="2926080" cy="502920"/>
          </a:xfrm>
          <a:prstGeom prst="rect">
            <a:avLst/>
          </a:prstGeom>
          <a:noFill/>
          <a:ln/>
        </p:spPr>
        <p:txBody>
          <a:bodyPr wrap="square" lIns="0" tIns="0" rIns="0" bIns="0" rtlCol="0" anchor="ctr"/>
          <a:lstStyle/>
          <a:p>
            <a:pPr indent="0" marL="0">
              <a:buNone/>
            </a:pPr>
            <a:r>
              <a:rPr lang="en-US" sz="2600" b="1" dirty="0">
                <a:solidFill>
                  <a:schemeClr val="tx2"/>
                </a:solidFill>
                <a:latin typeface="Cambria" pitchFamily="34" charset="0"/>
                <a:ea typeface="Cambria" pitchFamily="34" charset="-122"/>
                <a:cs typeface="Cambria" pitchFamily="34" charset="-120"/>
              </a:rPr>
              <a:t>Slow</a:t>
            </a:r>
            <a:endParaRPr lang="en-US" sz="2600" dirty="0"/>
          </a:p>
        </p:txBody>
      </p:sp>
      <p:sp>
        <p:nvSpPr>
          <p:cNvPr id="8" name="Text 4"/>
          <p:cNvSpPr txBox="1"/>
          <p:nvPr/>
        </p:nvSpPr>
        <p:spPr>
          <a:xfrm>
            <a:off x="868680" y="3657600"/>
            <a:ext cx="2926080" cy="1417320"/>
          </a:xfrm>
          <a:prstGeom prst="rect">
            <a:avLst/>
          </a:prstGeom>
          <a:noFill/>
          <a:ln/>
        </p:spPr>
        <p:txBody>
          <a:bodyPr wrap="square" lIns="0" tIns="0" rIns="0" bIns="0" rtlCol="0" anchor="t"/>
          <a:lstStyle/>
          <a:p>
            <a:pPr indent="0" marL="0">
              <a:buNone/>
            </a:pPr>
            <a:r>
              <a:rPr lang="en-US" sz="1800" dirty="0">
                <a:solidFill>
                  <a:schemeClr val="tx1"/>
                </a:solidFill>
              </a:rPr>
              <a:t>Students line up, and staff retype the same details at every window.</a:t>
            </a:r>
            <a:endParaRPr lang="en-US" sz="1800" dirty="0"/>
          </a:p>
        </p:txBody>
      </p:sp>
      <p:sp>
        <p:nvSpPr>
          <p:cNvPr id="9" name="Problem card 2"/>
          <p:cNvSpPr/>
          <p:nvPr/>
        </p:nvSpPr>
        <p:spPr>
          <a:xfrm>
            <a:off x="4334256" y="1645920"/>
            <a:ext cx="3520440" cy="3566160"/>
          </a:xfrm>
          <a:prstGeom prst="roundRect">
            <a:avLst>
              <a:gd name="adj" fmla="val 3117"/>
            </a:avLst>
          </a:prstGeom>
          <a:solidFill>
            <a:schemeClr val="bg2"/>
          </a:solidFill>
          <a:ln/>
        </p:spPr>
      </p:sp>
      <p:sp>
        <p:nvSpPr>
          <p:cNvPr id="10" name="Error-prone circle"/>
          <p:cNvSpPr/>
          <p:nvPr/>
        </p:nvSpPr>
        <p:spPr>
          <a:xfrm>
            <a:off x="4654296" y="1965960"/>
            <a:ext cx="868680" cy="868680"/>
          </a:xfrm>
          <a:prstGeom prst="ellipse">
            <a:avLst/>
          </a:prstGeom>
          <a:solidFill>
            <a:schemeClr val="accent1"/>
          </a:solidFill>
          <a:ln/>
        </p:spPr>
      </p:sp>
      <p:pic>
        <p:nvPicPr>
          <p:cNvPr id="11" name="Error-prone icon" descr="Error-prone">    </p:cNvPr>
          <p:cNvPicPr>
            <a:picLocks noChangeAspect="1"/>
          </p:cNvPicPr>
          <p:nvPr/>
        </p:nvPicPr>
        <p:blipFill>
          <a:blip r:embed="rId2"/>
          <a:stretch>
            <a:fillRect/>
          </a:stretch>
        </p:blipFill>
        <p:spPr>
          <a:xfrm>
            <a:off x="4888840" y="2200504"/>
            <a:ext cx="399593" cy="399593"/>
          </a:xfrm>
          <a:prstGeom prst="rect">
            <a:avLst/>
          </a:prstGeom>
        </p:spPr>
      </p:pic>
      <p:sp>
        <p:nvSpPr>
          <p:cNvPr id="12" name="Text 7"/>
          <p:cNvSpPr txBox="1"/>
          <p:nvPr/>
        </p:nvSpPr>
        <p:spPr>
          <a:xfrm>
            <a:off x="4654296" y="3063240"/>
            <a:ext cx="2926080" cy="502920"/>
          </a:xfrm>
          <a:prstGeom prst="rect">
            <a:avLst/>
          </a:prstGeom>
          <a:noFill/>
          <a:ln/>
        </p:spPr>
        <p:txBody>
          <a:bodyPr wrap="square" lIns="0" tIns="0" rIns="0" bIns="0" rtlCol="0" anchor="ctr"/>
          <a:lstStyle/>
          <a:p>
            <a:pPr indent="0" marL="0">
              <a:buNone/>
            </a:pPr>
            <a:r>
              <a:rPr lang="en-US" sz="2600" b="1" dirty="0">
                <a:solidFill>
                  <a:schemeClr val="tx2"/>
                </a:solidFill>
                <a:latin typeface="Cambria" pitchFamily="34" charset="0"/>
                <a:ea typeface="Cambria" pitchFamily="34" charset="-122"/>
                <a:cs typeface="Cambria" pitchFamily="34" charset="-120"/>
              </a:rPr>
              <a:t>Error-prone</a:t>
            </a:r>
            <a:endParaRPr lang="en-US" sz="2600" dirty="0"/>
          </a:p>
        </p:txBody>
      </p:sp>
      <p:sp>
        <p:nvSpPr>
          <p:cNvPr id="13" name="Text 8"/>
          <p:cNvSpPr txBox="1"/>
          <p:nvPr/>
        </p:nvSpPr>
        <p:spPr>
          <a:xfrm>
            <a:off x="4654296" y="3657600"/>
            <a:ext cx="2926080" cy="1417320"/>
          </a:xfrm>
          <a:prstGeom prst="rect">
            <a:avLst/>
          </a:prstGeom>
          <a:noFill/>
          <a:ln/>
        </p:spPr>
        <p:txBody>
          <a:bodyPr wrap="square" lIns="0" tIns="0" rIns="0" bIns="0" rtlCol="0" anchor="t"/>
          <a:lstStyle/>
          <a:p>
            <a:pPr indent="0" marL="0">
              <a:buNone/>
            </a:pPr>
            <a:r>
              <a:rPr lang="en-US" sz="1800" dirty="0">
                <a:solidFill>
                  <a:schemeClr val="tx1"/>
                </a:solidFill>
              </a:rPr>
              <a:t>A wrong amount, a missing document, a payment in the wrong account.</a:t>
            </a:r>
            <a:endParaRPr lang="en-US" sz="1800" dirty="0"/>
          </a:p>
        </p:txBody>
      </p:sp>
      <p:sp>
        <p:nvSpPr>
          <p:cNvPr id="14" name="Problem card 3"/>
          <p:cNvSpPr/>
          <p:nvPr/>
        </p:nvSpPr>
        <p:spPr>
          <a:xfrm>
            <a:off x="8119872" y="1645920"/>
            <a:ext cx="3520440" cy="3566160"/>
          </a:xfrm>
          <a:prstGeom prst="roundRect">
            <a:avLst>
              <a:gd name="adj" fmla="val 3117"/>
            </a:avLst>
          </a:prstGeom>
          <a:solidFill>
            <a:schemeClr val="bg2"/>
          </a:solidFill>
          <a:ln/>
        </p:spPr>
      </p:sp>
      <p:sp>
        <p:nvSpPr>
          <p:cNvPr id="15" name="Hard to check circle"/>
          <p:cNvSpPr/>
          <p:nvPr/>
        </p:nvSpPr>
        <p:spPr>
          <a:xfrm>
            <a:off x="8439912" y="1965960"/>
            <a:ext cx="868680" cy="868680"/>
          </a:xfrm>
          <a:prstGeom prst="ellipse">
            <a:avLst/>
          </a:prstGeom>
          <a:solidFill>
            <a:schemeClr val="accent1"/>
          </a:solidFill>
          <a:ln/>
        </p:spPr>
      </p:sp>
      <p:pic>
        <p:nvPicPr>
          <p:cNvPr id="16" name="Hard to check icon" descr="Hard to check">    </p:cNvPr>
          <p:cNvPicPr>
            <a:picLocks noChangeAspect="1"/>
          </p:cNvPicPr>
          <p:nvPr/>
        </p:nvPicPr>
        <p:blipFill>
          <a:blip r:embed="rId3"/>
          <a:stretch>
            <a:fillRect/>
          </a:stretch>
        </p:blipFill>
        <p:spPr>
          <a:xfrm>
            <a:off x="8674456" y="2200504"/>
            <a:ext cx="399593" cy="399593"/>
          </a:xfrm>
          <a:prstGeom prst="rect">
            <a:avLst/>
          </a:prstGeom>
        </p:spPr>
      </p:pic>
      <p:sp>
        <p:nvSpPr>
          <p:cNvPr id="17" name="Text 11"/>
          <p:cNvSpPr txBox="1"/>
          <p:nvPr/>
        </p:nvSpPr>
        <p:spPr>
          <a:xfrm>
            <a:off x="8439912" y="3063240"/>
            <a:ext cx="2926080" cy="502920"/>
          </a:xfrm>
          <a:prstGeom prst="rect">
            <a:avLst/>
          </a:prstGeom>
          <a:noFill/>
          <a:ln/>
        </p:spPr>
        <p:txBody>
          <a:bodyPr wrap="square" lIns="0" tIns="0" rIns="0" bIns="0" rtlCol="0" anchor="ctr"/>
          <a:lstStyle/>
          <a:p>
            <a:pPr indent="0" marL="0">
              <a:buNone/>
            </a:pPr>
            <a:r>
              <a:rPr lang="en-US" sz="2600" b="1" dirty="0">
                <a:solidFill>
                  <a:schemeClr val="tx2"/>
                </a:solidFill>
                <a:latin typeface="Cambria" pitchFamily="34" charset="0"/>
                <a:ea typeface="Cambria" pitchFamily="34" charset="-122"/>
                <a:cs typeface="Cambria" pitchFamily="34" charset="-120"/>
              </a:rPr>
              <a:t>Hard to check</a:t>
            </a:r>
            <a:endParaRPr lang="en-US" sz="2600" dirty="0"/>
          </a:p>
        </p:txBody>
      </p:sp>
      <p:sp>
        <p:nvSpPr>
          <p:cNvPr id="18" name="Text 12"/>
          <p:cNvSpPr txBox="1"/>
          <p:nvPr/>
        </p:nvSpPr>
        <p:spPr>
          <a:xfrm>
            <a:off x="8439912" y="3657600"/>
            <a:ext cx="2926080" cy="1417320"/>
          </a:xfrm>
          <a:prstGeom prst="rect">
            <a:avLst/>
          </a:prstGeom>
          <a:noFill/>
          <a:ln/>
        </p:spPr>
        <p:txBody>
          <a:bodyPr wrap="square" lIns="0" tIns="0" rIns="0" bIns="0" rtlCol="0" anchor="t"/>
          <a:lstStyle/>
          <a:p>
            <a:pPr indent="0" marL="0">
              <a:buNone/>
            </a:pPr>
            <a:r>
              <a:rPr lang="en-US" sz="1800" dirty="0">
                <a:solidFill>
                  <a:schemeClr val="tx1"/>
                </a:solidFill>
              </a:rPr>
              <a:t>Who approved it? Is this ID real? The answer is buried in paper.</a:t>
            </a:r>
            <a:endParaRPr lang="en-US" sz="1800" dirty="0"/>
          </a:p>
        </p:txBody>
      </p:sp>
      <p:sp>
        <p:nvSpPr>
          <p:cNvPr id="19" name="Takeaway"/>
          <p:cNvSpPr txBox="1"/>
          <p:nvPr/>
        </p:nvSpPr>
        <p:spPr>
          <a:xfrm>
            <a:off x="548640" y="5577840"/>
            <a:ext cx="11064240" cy="548640"/>
          </a:xfrm>
          <a:prstGeom prst="rect">
            <a:avLst/>
          </a:prstGeom>
          <a:noFill/>
          <a:ln/>
        </p:spPr>
        <p:txBody>
          <a:bodyPr wrap="square" lIns="0" tIns="0" rIns="0" bIns="0" rtlCol="0" anchor="ctr"/>
          <a:lstStyle/>
          <a:p>
            <a:pPr indent="0" marL="0">
              <a:buNone/>
            </a:pPr>
            <a:r>
              <a:rPr lang="en-US" sz="2400" b="1" i="1" dirty="0">
                <a:solidFill>
                  <a:schemeClr val="accent1"/>
                </a:solidFill>
              </a:rPr>
              <a:t>SchoolHub fixes all three.</a:t>
            </a:r>
            <a:endParaRPr lang="en-US" sz="2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1672" cy="86868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One system for the whole school office</a:t>
            </a:r>
            <a:endParaRPr lang="en-US" sz="3200" dirty="0"/>
          </a:p>
        </p:txBody>
      </p:sp>
      <p:sp>
        <p:nvSpPr>
          <p:cNvPr id="4" name="Students apply, pay, and follow their records online circle"/>
          <p:cNvSpPr/>
          <p:nvPr/>
        </p:nvSpPr>
        <p:spPr>
          <a:xfrm>
            <a:off x="548640" y="1645920"/>
            <a:ext cx="731520" cy="731520"/>
          </a:xfrm>
          <a:prstGeom prst="ellipse">
            <a:avLst/>
          </a:prstGeom>
          <a:solidFill>
            <a:schemeClr val="accent1"/>
          </a:solidFill>
          <a:ln/>
        </p:spPr>
      </p:sp>
      <p:pic>
        <p:nvPicPr>
          <p:cNvPr id="5" name="Students apply, pay, and follow their records online icon" descr="Students apply, pay, and follow their records online">    </p:cNvPr>
          <p:cNvPicPr>
            <a:picLocks noChangeAspect="1"/>
          </p:cNvPicPr>
          <p:nvPr/>
        </p:nvPicPr>
        <p:blipFill>
          <a:blip r:embed="rId1"/>
          <a:stretch>
            <a:fillRect/>
          </a:stretch>
        </p:blipFill>
        <p:spPr>
          <a:xfrm>
            <a:off x="746150" y="1843430"/>
            <a:ext cx="336499" cy="336499"/>
          </a:xfrm>
          <a:prstGeom prst="rect">
            <a:avLst/>
          </a:prstGeom>
        </p:spPr>
      </p:pic>
      <p:sp>
        <p:nvSpPr>
          <p:cNvPr id="6" name="Text 2"/>
          <p:cNvSpPr txBox="1"/>
          <p:nvPr/>
        </p:nvSpPr>
        <p:spPr>
          <a:xfrm>
            <a:off x="1508760" y="1600200"/>
            <a:ext cx="4297680" cy="822960"/>
          </a:xfrm>
          <a:prstGeom prst="rect">
            <a:avLst/>
          </a:prstGeom>
          <a:noFill/>
          <a:ln/>
        </p:spPr>
        <p:txBody>
          <a:bodyPr wrap="square" lIns="0" tIns="0" rIns="0" bIns="0" rtlCol="0" anchor="ctr"/>
          <a:lstStyle/>
          <a:p>
            <a:pPr indent="0" marL="0">
              <a:buNone/>
            </a:pPr>
            <a:r>
              <a:rPr lang="en-US" sz="2000" dirty="0">
                <a:solidFill>
                  <a:schemeClr val="tx1"/>
                </a:solidFill>
              </a:rPr>
              <a:t>Students apply, pay, and follow their records online</a:t>
            </a:r>
            <a:endParaRPr lang="en-US" sz="2000" dirty="0"/>
          </a:p>
        </p:txBody>
      </p:sp>
      <p:sp>
        <p:nvSpPr>
          <p:cNvPr id="7" name="Staff work from role-based portals, each with only its own tools circle"/>
          <p:cNvSpPr/>
          <p:nvPr/>
        </p:nvSpPr>
        <p:spPr>
          <a:xfrm>
            <a:off x="548640" y="2743200"/>
            <a:ext cx="731520" cy="731520"/>
          </a:xfrm>
          <a:prstGeom prst="ellipse">
            <a:avLst/>
          </a:prstGeom>
          <a:solidFill>
            <a:schemeClr val="accent1"/>
          </a:solidFill>
          <a:ln/>
        </p:spPr>
      </p:sp>
      <p:pic>
        <p:nvPicPr>
          <p:cNvPr id="8" name="Staff work from role-based portals, each with only its own tools icon" descr="Staff work from role-based portals, each with only its own tools">    </p:cNvPr>
          <p:cNvPicPr>
            <a:picLocks noChangeAspect="1"/>
          </p:cNvPicPr>
          <p:nvPr/>
        </p:nvPicPr>
        <p:blipFill>
          <a:blip r:embed="rId2"/>
          <a:stretch>
            <a:fillRect/>
          </a:stretch>
        </p:blipFill>
        <p:spPr>
          <a:xfrm>
            <a:off x="746150" y="2940710"/>
            <a:ext cx="336499" cy="336499"/>
          </a:xfrm>
          <a:prstGeom prst="rect">
            <a:avLst/>
          </a:prstGeom>
        </p:spPr>
      </p:pic>
      <p:sp>
        <p:nvSpPr>
          <p:cNvPr id="9" name="Text 4"/>
          <p:cNvSpPr txBox="1"/>
          <p:nvPr/>
        </p:nvSpPr>
        <p:spPr>
          <a:xfrm>
            <a:off x="1508760" y="2697480"/>
            <a:ext cx="4297680" cy="822960"/>
          </a:xfrm>
          <a:prstGeom prst="rect">
            <a:avLst/>
          </a:prstGeom>
          <a:noFill/>
          <a:ln/>
        </p:spPr>
        <p:txBody>
          <a:bodyPr wrap="square" lIns="0" tIns="0" rIns="0" bIns="0" rtlCol="0" anchor="ctr"/>
          <a:lstStyle/>
          <a:p>
            <a:pPr indent="0" marL="0">
              <a:buNone/>
            </a:pPr>
            <a:r>
              <a:rPr lang="en-US" sz="2000" dirty="0">
                <a:solidFill>
                  <a:schemeClr val="tx1"/>
                </a:solidFill>
              </a:rPr>
              <a:t>Staff work from role-based portals, each with only its own tools</a:t>
            </a:r>
            <a:endParaRPr lang="en-US" sz="2000" dirty="0"/>
          </a:p>
        </p:txBody>
      </p:sp>
      <p:sp>
        <p:nvSpPr>
          <p:cNvPr id="10" name="Walk-in students are served at the counter too circle"/>
          <p:cNvSpPr/>
          <p:nvPr/>
        </p:nvSpPr>
        <p:spPr>
          <a:xfrm>
            <a:off x="548640" y="3840480"/>
            <a:ext cx="731520" cy="731520"/>
          </a:xfrm>
          <a:prstGeom prst="ellipse">
            <a:avLst/>
          </a:prstGeom>
          <a:solidFill>
            <a:schemeClr val="accent1"/>
          </a:solidFill>
          <a:ln/>
        </p:spPr>
      </p:sp>
      <p:pic>
        <p:nvPicPr>
          <p:cNvPr id="11" name="Walk-in students are served at the counter too icon" descr="Walk-in students are served at the counter too">    </p:cNvPr>
          <p:cNvPicPr>
            <a:picLocks noChangeAspect="1"/>
          </p:cNvPicPr>
          <p:nvPr/>
        </p:nvPicPr>
        <p:blipFill>
          <a:blip r:embed="rId3"/>
          <a:stretch>
            <a:fillRect/>
          </a:stretch>
        </p:blipFill>
        <p:spPr>
          <a:xfrm>
            <a:off x="746150" y="4037990"/>
            <a:ext cx="336499" cy="336499"/>
          </a:xfrm>
          <a:prstGeom prst="rect">
            <a:avLst/>
          </a:prstGeom>
        </p:spPr>
      </p:pic>
      <p:sp>
        <p:nvSpPr>
          <p:cNvPr id="12" name="Text 6"/>
          <p:cNvSpPr txBox="1"/>
          <p:nvPr/>
        </p:nvSpPr>
        <p:spPr>
          <a:xfrm>
            <a:off x="1508760" y="3794760"/>
            <a:ext cx="4297680" cy="822960"/>
          </a:xfrm>
          <a:prstGeom prst="rect">
            <a:avLst/>
          </a:prstGeom>
          <a:noFill/>
          <a:ln/>
        </p:spPr>
        <p:txBody>
          <a:bodyPr wrap="square" lIns="0" tIns="0" rIns="0" bIns="0" rtlCol="0" anchor="ctr"/>
          <a:lstStyle/>
          <a:p>
            <a:pPr indent="0" marL="0">
              <a:buNone/>
            </a:pPr>
            <a:r>
              <a:rPr lang="en-US" sz="2000" dirty="0">
                <a:solidFill>
                  <a:schemeClr val="tx1"/>
                </a:solidFill>
              </a:rPr>
              <a:t>Walk-in students are served at the counter too</a:t>
            </a:r>
            <a:endParaRPr lang="en-US" sz="2000" dirty="0"/>
          </a:p>
        </p:txBody>
      </p:sp>
      <p:sp>
        <p:nvSpPr>
          <p:cNvPr id="13" name="Works in any browser, on a PC or a phone circle"/>
          <p:cNvSpPr/>
          <p:nvPr/>
        </p:nvSpPr>
        <p:spPr>
          <a:xfrm>
            <a:off x="548640" y="4937760"/>
            <a:ext cx="731520" cy="731520"/>
          </a:xfrm>
          <a:prstGeom prst="ellipse">
            <a:avLst/>
          </a:prstGeom>
          <a:solidFill>
            <a:schemeClr val="accent1"/>
          </a:solidFill>
          <a:ln/>
        </p:spPr>
      </p:sp>
      <p:pic>
        <p:nvPicPr>
          <p:cNvPr id="14" name="Works in any browser, on a PC or a phone icon" descr="Works in any browser, on a PC or a phone">    </p:cNvPr>
          <p:cNvPicPr>
            <a:picLocks noChangeAspect="1"/>
          </p:cNvPicPr>
          <p:nvPr/>
        </p:nvPicPr>
        <p:blipFill>
          <a:blip r:embed="rId4"/>
          <a:stretch>
            <a:fillRect/>
          </a:stretch>
        </p:blipFill>
        <p:spPr>
          <a:xfrm>
            <a:off x="746150" y="5135270"/>
            <a:ext cx="336499" cy="336499"/>
          </a:xfrm>
          <a:prstGeom prst="rect">
            <a:avLst/>
          </a:prstGeom>
        </p:spPr>
      </p:pic>
      <p:sp>
        <p:nvSpPr>
          <p:cNvPr id="15" name="Text 8"/>
          <p:cNvSpPr txBox="1"/>
          <p:nvPr/>
        </p:nvSpPr>
        <p:spPr>
          <a:xfrm>
            <a:off x="1508760" y="4892040"/>
            <a:ext cx="4297680" cy="822960"/>
          </a:xfrm>
          <a:prstGeom prst="rect">
            <a:avLst/>
          </a:prstGeom>
          <a:noFill/>
          <a:ln/>
        </p:spPr>
        <p:txBody>
          <a:bodyPr wrap="square" lIns="0" tIns="0" rIns="0" bIns="0" rtlCol="0" anchor="ctr"/>
          <a:lstStyle/>
          <a:p>
            <a:pPr indent="0" marL="0">
              <a:buNone/>
            </a:pPr>
            <a:r>
              <a:rPr lang="en-US" sz="2000" dirty="0">
                <a:solidFill>
                  <a:schemeClr val="tx1"/>
                </a:solidFill>
              </a:rPr>
              <a:t>Works in any browser, on a PC or a phone</a:t>
            </a:r>
            <a:endParaRPr lang="en-US" sz="2000" dirty="0"/>
          </a:p>
        </p:txBody>
      </p:sp>
      <p:sp>
        <p:nvSpPr>
          <p:cNvPr id="16" name="Landing page screenshot frame"/>
          <p:cNvSpPr/>
          <p:nvPr/>
        </p:nvSpPr>
        <p:spPr>
          <a:xfrm>
            <a:off x="6172200" y="1645920"/>
            <a:ext cx="5468112" cy="3419856"/>
          </a:xfrm>
          <a:prstGeom prst="roundRect">
            <a:avLst>
              <a:gd name="adj" fmla="val 2139"/>
            </a:avLst>
          </a:prstGeom>
          <a:solidFill>
            <a:schemeClr val="bg1"/>
          </a:solidFill>
          <a:ln w="12700">
            <a:solidFill>
              <a:srgbClr val="EAF3FB"/>
            </a:solidFill>
            <a:prstDash val="solid"/>
          </a:ln>
          <a:effectLst>
            <a:outerShdw sx="100000" sy="100000" kx="0" ky="0" algn="bl" rotWithShape="0" blurRad="101600" dist="38100" dir="5400000">
              <a:srgbClr val="000000">
                <a:alpha val="18000"/>
              </a:srgbClr>
            </a:outerShdw>
          </a:effectLst>
        </p:spPr>
      </p:sp>
      <p:pic>
        <p:nvPicPr>
          <p:cNvPr id="17" name="Landing page screenshot" descr="Landing page screenshot">    </p:cNvPr>
          <p:cNvPicPr>
            <a:picLocks noChangeAspect="1"/>
          </p:cNvPicPr>
          <p:nvPr/>
        </p:nvPicPr>
        <p:blipFill>
          <a:blip r:embed="rId5"/>
          <a:stretch>
            <a:fillRect/>
          </a:stretch>
        </p:blipFill>
        <p:spPr>
          <a:xfrm>
            <a:off x="6227064" y="1700784"/>
            <a:ext cx="5358384" cy="3310128"/>
          </a:xfrm>
          <a:prstGeom prst="rect">
            <a:avLst/>
          </a:prstGeom>
        </p:spPr>
      </p:pic>
      <p:sp>
        <p:nvSpPr>
          <p:cNvPr id="18" name="Caption"/>
          <p:cNvSpPr txBox="1"/>
          <p:nvPr/>
        </p:nvSpPr>
        <p:spPr>
          <a:xfrm>
            <a:off x="6172200" y="5166360"/>
            <a:ext cx="5394960" cy="320040"/>
          </a:xfrm>
          <a:prstGeom prst="rect">
            <a:avLst/>
          </a:prstGeom>
          <a:noFill/>
          <a:ln/>
        </p:spPr>
        <p:txBody>
          <a:bodyPr wrap="square" lIns="0" tIns="0" rIns="0" bIns="0" rtlCol="0" anchor="ctr"/>
          <a:lstStyle/>
          <a:p>
            <a:pPr indent="0" marL="0">
              <a:buNone/>
            </a:pPr>
            <a:r>
              <a:rPr lang="en-US" sz="1200" i="1" dirty="0">
                <a:solidFill>
                  <a:schemeClr val="accent6"/>
                </a:solidFill>
              </a:rPr>
              <a:t>The public landing page</a:t>
            </a:r>
            <a:endParaRPr lang="en-US" sz="1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1672" cy="86868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One student's journey, from application to enrolled</a:t>
            </a:r>
            <a:endParaRPr lang="en-US" sz="3200" dirty="0"/>
          </a:p>
        </p:txBody>
      </p:sp>
      <p:sp>
        <p:nvSpPr>
          <p:cNvPr id="4" name="Step 1"/>
          <p:cNvSpPr/>
          <p:nvPr/>
        </p:nvSpPr>
        <p:spPr>
          <a:xfrm>
            <a:off x="1024128" y="1691640"/>
            <a:ext cx="731520" cy="731520"/>
          </a:xfrm>
          <a:prstGeom prst="ellipse">
            <a:avLst/>
          </a:prstGeom>
          <a:solidFill>
            <a:schemeClr val="accent1"/>
          </a:solidFill>
          <a:ln/>
        </p:spPr>
      </p:sp>
      <p:sp>
        <p:nvSpPr>
          <p:cNvPr id="5" name="Text 2"/>
          <p:cNvSpPr txBox="1"/>
          <p:nvPr/>
        </p:nvSpPr>
        <p:spPr>
          <a:xfrm>
            <a:off x="1024128" y="1691640"/>
            <a:ext cx="731520" cy="731520"/>
          </a:xfrm>
          <a:prstGeom prst="rect">
            <a:avLst/>
          </a:prstGeom>
          <a:noFill/>
          <a:ln/>
        </p:spPr>
        <p:txBody>
          <a:bodyPr wrap="square" lIns="0" tIns="0" rIns="0" bIns="0" rtlCol="0" anchor="ctr"/>
          <a:lstStyle/>
          <a:p>
            <a:pPr algn="ctr" indent="0" marL="0">
              <a:buNone/>
            </a:pPr>
            <a:r>
              <a:rPr lang="en-US" sz="2600" b="1" dirty="0">
                <a:solidFill>
                  <a:schemeClr val="bg1"/>
                </a:solidFill>
                <a:latin typeface="Cambria" pitchFamily="34" charset="0"/>
                <a:ea typeface="Cambria" pitchFamily="34" charset="-122"/>
                <a:cs typeface="Cambria" pitchFamily="34" charset="-120"/>
              </a:rPr>
              <a:t>1</a:t>
            </a:r>
            <a:endParaRPr lang="en-US" sz="2600" dirty="0"/>
          </a:p>
        </p:txBody>
      </p:sp>
      <p:sp>
        <p:nvSpPr>
          <p:cNvPr id="6" name="Arrow 1"/>
          <p:cNvSpPr/>
          <p:nvPr/>
        </p:nvSpPr>
        <p:spPr>
          <a:xfrm>
            <a:off x="1828800" y="2057400"/>
            <a:ext cx="594360" cy="0"/>
          </a:xfrm>
          <a:prstGeom prst="line">
            <a:avLst/>
          </a:prstGeom>
          <a:noFill/>
          <a:ln w="31750">
            <a:solidFill>
              <a:srgbClr val="6FB1E4"/>
            </a:solidFill>
            <a:prstDash val="solid"/>
            <a:tailEnd type="triangle"/>
          </a:ln>
        </p:spPr>
      </p:sp>
      <p:sp>
        <p:nvSpPr>
          <p:cNvPr id="7" name="Text 4"/>
          <p:cNvSpPr txBox="1"/>
          <p:nvPr/>
        </p:nvSpPr>
        <p:spPr>
          <a:xfrm>
            <a:off x="548640" y="2697480"/>
            <a:ext cx="1691640" cy="457200"/>
          </a:xfrm>
          <a:prstGeom prst="rect">
            <a:avLst/>
          </a:prstGeom>
          <a:noFill/>
          <a:ln/>
        </p:spPr>
        <p:txBody>
          <a:bodyPr wrap="square" lIns="0" tIns="0" rIns="0" bIns="0" rtlCol="0" anchor="ctr"/>
          <a:lstStyle/>
          <a:p>
            <a:pPr algn="ctr" indent="0" marL="0">
              <a:buNone/>
            </a:pPr>
            <a:r>
              <a:rPr lang="en-US" sz="2200" b="1" dirty="0">
                <a:solidFill>
                  <a:schemeClr val="tx2"/>
                </a:solidFill>
                <a:latin typeface="Cambria" pitchFamily="34" charset="0"/>
                <a:ea typeface="Cambria" pitchFamily="34" charset="-122"/>
                <a:cs typeface="Cambria" pitchFamily="34" charset="-120"/>
              </a:rPr>
              <a:t>Apply</a:t>
            </a:r>
            <a:endParaRPr lang="en-US" sz="2200" dirty="0"/>
          </a:p>
        </p:txBody>
      </p:sp>
      <p:sp>
        <p:nvSpPr>
          <p:cNvPr id="8" name="Text 5"/>
          <p:cNvSpPr txBox="1"/>
          <p:nvPr/>
        </p:nvSpPr>
        <p:spPr>
          <a:xfrm>
            <a:off x="548640" y="3200400"/>
            <a:ext cx="1691640" cy="1005840"/>
          </a:xfrm>
          <a:prstGeom prst="rect">
            <a:avLst/>
          </a:prstGeom>
          <a:noFill/>
          <a:ln/>
        </p:spPr>
        <p:txBody>
          <a:bodyPr wrap="square" lIns="0" tIns="0" rIns="0" bIns="0" rtlCol="0" anchor="t"/>
          <a:lstStyle/>
          <a:p>
            <a:pPr algn="ctr" indent="0" marL="0">
              <a:buNone/>
            </a:pPr>
            <a:r>
              <a:rPr lang="en-US" sz="1500" dirty="0">
                <a:solidFill>
                  <a:schemeClr val="tx1"/>
                </a:solidFill>
              </a:rPr>
              <a:t>Online, or at the counter</a:t>
            </a:r>
            <a:endParaRPr lang="en-US" sz="1500" dirty="0"/>
          </a:p>
        </p:txBody>
      </p:sp>
      <p:sp>
        <p:nvSpPr>
          <p:cNvPr id="9" name="Who 1"/>
          <p:cNvSpPr/>
          <p:nvPr/>
        </p:nvSpPr>
        <p:spPr>
          <a:xfrm>
            <a:off x="685800" y="4434840"/>
            <a:ext cx="1417320" cy="384048"/>
          </a:xfrm>
          <a:prstGeom prst="roundRect">
            <a:avLst>
              <a:gd name="adj" fmla="val 47619"/>
            </a:avLst>
          </a:prstGeom>
          <a:solidFill>
            <a:schemeClr val="bg2"/>
          </a:solidFill>
          <a:ln/>
        </p:spPr>
      </p:sp>
      <p:sp>
        <p:nvSpPr>
          <p:cNvPr id="10" name="Text 7"/>
          <p:cNvSpPr txBox="1"/>
          <p:nvPr/>
        </p:nvSpPr>
        <p:spPr>
          <a:xfrm>
            <a:off x="685800" y="4434840"/>
            <a:ext cx="1417320" cy="384048"/>
          </a:xfrm>
          <a:prstGeom prst="rect">
            <a:avLst/>
          </a:prstGeom>
          <a:noFill/>
          <a:ln/>
        </p:spPr>
        <p:txBody>
          <a:bodyPr wrap="square" lIns="0" tIns="0" rIns="0" bIns="0" rtlCol="0" anchor="ctr"/>
          <a:lstStyle/>
          <a:p>
            <a:pPr algn="ctr" indent="0" marL="0">
              <a:buNone/>
            </a:pPr>
            <a:r>
              <a:rPr lang="en-US" sz="1200" b="1" dirty="0">
                <a:solidFill>
                  <a:schemeClr val="accent1"/>
                </a:solidFill>
              </a:rPr>
              <a:t>Student or registrar</a:t>
            </a:r>
            <a:endParaRPr lang="en-US" sz="1200" dirty="0"/>
          </a:p>
        </p:txBody>
      </p:sp>
      <p:sp>
        <p:nvSpPr>
          <p:cNvPr id="11" name="Step 2"/>
          <p:cNvSpPr/>
          <p:nvPr/>
        </p:nvSpPr>
        <p:spPr>
          <a:xfrm>
            <a:off x="2898648" y="1691640"/>
            <a:ext cx="731520" cy="731520"/>
          </a:xfrm>
          <a:prstGeom prst="ellipse">
            <a:avLst/>
          </a:prstGeom>
          <a:solidFill>
            <a:schemeClr val="accent1"/>
          </a:solidFill>
          <a:ln/>
        </p:spPr>
      </p:sp>
      <p:sp>
        <p:nvSpPr>
          <p:cNvPr id="12" name="Text 9"/>
          <p:cNvSpPr txBox="1"/>
          <p:nvPr/>
        </p:nvSpPr>
        <p:spPr>
          <a:xfrm>
            <a:off x="2898648" y="1691640"/>
            <a:ext cx="731520" cy="731520"/>
          </a:xfrm>
          <a:prstGeom prst="rect">
            <a:avLst/>
          </a:prstGeom>
          <a:noFill/>
          <a:ln/>
        </p:spPr>
        <p:txBody>
          <a:bodyPr wrap="square" lIns="0" tIns="0" rIns="0" bIns="0" rtlCol="0" anchor="ctr"/>
          <a:lstStyle/>
          <a:p>
            <a:pPr algn="ctr" indent="0" marL="0">
              <a:buNone/>
            </a:pPr>
            <a:r>
              <a:rPr lang="en-US" sz="2600" b="1" dirty="0">
                <a:solidFill>
                  <a:schemeClr val="bg1"/>
                </a:solidFill>
                <a:latin typeface="Cambria" pitchFamily="34" charset="0"/>
                <a:ea typeface="Cambria" pitchFamily="34" charset="-122"/>
                <a:cs typeface="Cambria" pitchFamily="34" charset="-120"/>
              </a:rPr>
              <a:t>2</a:t>
            </a:r>
            <a:endParaRPr lang="en-US" sz="2600" dirty="0"/>
          </a:p>
        </p:txBody>
      </p:sp>
      <p:sp>
        <p:nvSpPr>
          <p:cNvPr id="13" name="Arrow 2"/>
          <p:cNvSpPr/>
          <p:nvPr/>
        </p:nvSpPr>
        <p:spPr>
          <a:xfrm>
            <a:off x="3703320" y="2057400"/>
            <a:ext cx="594360" cy="0"/>
          </a:xfrm>
          <a:prstGeom prst="line">
            <a:avLst/>
          </a:prstGeom>
          <a:noFill/>
          <a:ln w="31750">
            <a:solidFill>
              <a:srgbClr val="6FB1E4"/>
            </a:solidFill>
            <a:prstDash val="solid"/>
            <a:tailEnd type="triangle"/>
          </a:ln>
        </p:spPr>
      </p:sp>
      <p:sp>
        <p:nvSpPr>
          <p:cNvPr id="14" name="Text 11"/>
          <p:cNvSpPr txBox="1"/>
          <p:nvPr/>
        </p:nvSpPr>
        <p:spPr>
          <a:xfrm>
            <a:off x="2423160" y="2697480"/>
            <a:ext cx="1691640" cy="457200"/>
          </a:xfrm>
          <a:prstGeom prst="rect">
            <a:avLst/>
          </a:prstGeom>
          <a:noFill/>
          <a:ln/>
        </p:spPr>
        <p:txBody>
          <a:bodyPr wrap="square" lIns="0" tIns="0" rIns="0" bIns="0" rtlCol="0" anchor="ctr"/>
          <a:lstStyle/>
          <a:p>
            <a:pPr algn="ctr" indent="0" marL="0">
              <a:buNone/>
            </a:pPr>
            <a:r>
              <a:rPr lang="en-US" sz="2200" b="1" dirty="0">
                <a:solidFill>
                  <a:schemeClr val="tx2"/>
                </a:solidFill>
                <a:latin typeface="Cambria" pitchFamily="34" charset="0"/>
                <a:ea typeface="Cambria" pitchFamily="34" charset="-122"/>
                <a:cs typeface="Cambria" pitchFamily="34" charset="-120"/>
              </a:rPr>
              <a:t>Documents</a:t>
            </a:r>
            <a:endParaRPr lang="en-US" sz="2200" dirty="0"/>
          </a:p>
        </p:txBody>
      </p:sp>
      <p:sp>
        <p:nvSpPr>
          <p:cNvPr id="15" name="Text 12"/>
          <p:cNvSpPr txBox="1"/>
          <p:nvPr/>
        </p:nvSpPr>
        <p:spPr>
          <a:xfrm>
            <a:off x="2423160" y="3200400"/>
            <a:ext cx="1691640" cy="1005840"/>
          </a:xfrm>
          <a:prstGeom prst="rect">
            <a:avLst/>
          </a:prstGeom>
          <a:noFill/>
          <a:ln/>
        </p:spPr>
        <p:txBody>
          <a:bodyPr wrap="square" lIns="0" tIns="0" rIns="0" bIns="0" rtlCol="0" anchor="t"/>
          <a:lstStyle/>
          <a:p>
            <a:pPr algn="ctr" indent="0" marL="0">
              <a:buNone/>
            </a:pPr>
            <a:r>
              <a:rPr lang="en-US" sz="1500" dirty="0">
                <a:solidFill>
                  <a:schemeClr val="tx1"/>
                </a:solidFill>
              </a:rPr>
              <a:t>Checked, or returned with a reason</a:t>
            </a:r>
            <a:endParaRPr lang="en-US" sz="1500" dirty="0"/>
          </a:p>
        </p:txBody>
      </p:sp>
      <p:sp>
        <p:nvSpPr>
          <p:cNvPr id="16" name="Who 2"/>
          <p:cNvSpPr/>
          <p:nvPr/>
        </p:nvSpPr>
        <p:spPr>
          <a:xfrm>
            <a:off x="2560320" y="4434840"/>
            <a:ext cx="1417320" cy="384048"/>
          </a:xfrm>
          <a:prstGeom prst="roundRect">
            <a:avLst>
              <a:gd name="adj" fmla="val 47619"/>
            </a:avLst>
          </a:prstGeom>
          <a:solidFill>
            <a:schemeClr val="bg2"/>
          </a:solidFill>
          <a:ln/>
        </p:spPr>
      </p:sp>
      <p:sp>
        <p:nvSpPr>
          <p:cNvPr id="17" name="Text 14"/>
          <p:cNvSpPr txBox="1"/>
          <p:nvPr/>
        </p:nvSpPr>
        <p:spPr>
          <a:xfrm>
            <a:off x="2560320" y="4434840"/>
            <a:ext cx="1417320" cy="384048"/>
          </a:xfrm>
          <a:prstGeom prst="rect">
            <a:avLst/>
          </a:prstGeom>
          <a:noFill/>
          <a:ln/>
        </p:spPr>
        <p:txBody>
          <a:bodyPr wrap="square" lIns="0" tIns="0" rIns="0" bIns="0" rtlCol="0" anchor="ctr"/>
          <a:lstStyle/>
          <a:p>
            <a:pPr algn="ctr" indent="0" marL="0">
              <a:buNone/>
            </a:pPr>
            <a:r>
              <a:rPr lang="en-US" sz="1200" b="1" dirty="0">
                <a:solidFill>
                  <a:schemeClr val="accent1"/>
                </a:solidFill>
              </a:rPr>
              <a:t>Registrar</a:t>
            </a:r>
            <a:endParaRPr lang="en-US" sz="1200" dirty="0"/>
          </a:p>
        </p:txBody>
      </p:sp>
      <p:sp>
        <p:nvSpPr>
          <p:cNvPr id="18" name="Step 3"/>
          <p:cNvSpPr/>
          <p:nvPr/>
        </p:nvSpPr>
        <p:spPr>
          <a:xfrm>
            <a:off x="4773168" y="1691640"/>
            <a:ext cx="731520" cy="731520"/>
          </a:xfrm>
          <a:prstGeom prst="ellipse">
            <a:avLst/>
          </a:prstGeom>
          <a:solidFill>
            <a:schemeClr val="accent1"/>
          </a:solidFill>
          <a:ln/>
        </p:spPr>
      </p:sp>
      <p:sp>
        <p:nvSpPr>
          <p:cNvPr id="19" name="Text 16"/>
          <p:cNvSpPr txBox="1"/>
          <p:nvPr/>
        </p:nvSpPr>
        <p:spPr>
          <a:xfrm>
            <a:off x="4773168" y="1691640"/>
            <a:ext cx="731520" cy="731520"/>
          </a:xfrm>
          <a:prstGeom prst="rect">
            <a:avLst/>
          </a:prstGeom>
          <a:noFill/>
          <a:ln/>
        </p:spPr>
        <p:txBody>
          <a:bodyPr wrap="square" lIns="0" tIns="0" rIns="0" bIns="0" rtlCol="0" anchor="ctr"/>
          <a:lstStyle/>
          <a:p>
            <a:pPr algn="ctr" indent="0" marL="0">
              <a:buNone/>
            </a:pPr>
            <a:r>
              <a:rPr lang="en-US" sz="2600" b="1" dirty="0">
                <a:solidFill>
                  <a:schemeClr val="bg1"/>
                </a:solidFill>
                <a:latin typeface="Cambria" pitchFamily="34" charset="0"/>
                <a:ea typeface="Cambria" pitchFamily="34" charset="-122"/>
                <a:cs typeface="Cambria" pitchFamily="34" charset="-120"/>
              </a:rPr>
              <a:t>3</a:t>
            </a:r>
            <a:endParaRPr lang="en-US" sz="2600" dirty="0"/>
          </a:p>
        </p:txBody>
      </p:sp>
      <p:sp>
        <p:nvSpPr>
          <p:cNvPr id="20" name="Arrow 3"/>
          <p:cNvSpPr/>
          <p:nvPr/>
        </p:nvSpPr>
        <p:spPr>
          <a:xfrm>
            <a:off x="5577840" y="2057400"/>
            <a:ext cx="594360" cy="0"/>
          </a:xfrm>
          <a:prstGeom prst="line">
            <a:avLst/>
          </a:prstGeom>
          <a:noFill/>
          <a:ln w="31750">
            <a:solidFill>
              <a:srgbClr val="6FB1E4"/>
            </a:solidFill>
            <a:prstDash val="solid"/>
            <a:tailEnd type="triangle"/>
          </a:ln>
        </p:spPr>
      </p:sp>
      <p:sp>
        <p:nvSpPr>
          <p:cNvPr id="21" name="Text 18"/>
          <p:cNvSpPr txBox="1"/>
          <p:nvPr/>
        </p:nvSpPr>
        <p:spPr>
          <a:xfrm>
            <a:off x="4297680" y="2697480"/>
            <a:ext cx="1691640" cy="457200"/>
          </a:xfrm>
          <a:prstGeom prst="rect">
            <a:avLst/>
          </a:prstGeom>
          <a:noFill/>
          <a:ln/>
        </p:spPr>
        <p:txBody>
          <a:bodyPr wrap="square" lIns="0" tIns="0" rIns="0" bIns="0" rtlCol="0" anchor="ctr"/>
          <a:lstStyle/>
          <a:p>
            <a:pPr algn="ctr" indent="0" marL="0">
              <a:buNone/>
            </a:pPr>
            <a:r>
              <a:rPr lang="en-US" sz="2200" b="1" dirty="0">
                <a:solidFill>
                  <a:schemeClr val="tx2"/>
                </a:solidFill>
                <a:latin typeface="Cambria" pitchFamily="34" charset="0"/>
                <a:ea typeface="Cambria" pitchFamily="34" charset="-122"/>
                <a:cs typeface="Cambria" pitchFamily="34" charset="-120"/>
              </a:rPr>
              <a:t>Approval</a:t>
            </a:r>
            <a:endParaRPr lang="en-US" sz="2200" dirty="0"/>
          </a:p>
        </p:txBody>
      </p:sp>
      <p:sp>
        <p:nvSpPr>
          <p:cNvPr id="22" name="Text 19"/>
          <p:cNvSpPr txBox="1"/>
          <p:nvPr/>
        </p:nvSpPr>
        <p:spPr>
          <a:xfrm>
            <a:off x="4297680" y="3200400"/>
            <a:ext cx="1691640" cy="1005840"/>
          </a:xfrm>
          <a:prstGeom prst="rect">
            <a:avLst/>
          </a:prstGeom>
          <a:noFill/>
          <a:ln/>
        </p:spPr>
        <p:txBody>
          <a:bodyPr wrap="square" lIns="0" tIns="0" rIns="0" bIns="0" rtlCol="0" anchor="t"/>
          <a:lstStyle/>
          <a:p>
            <a:pPr algn="ctr" indent="0" marL="0">
              <a:buNone/>
            </a:pPr>
            <a:r>
              <a:rPr lang="en-US" sz="1500" dirty="0">
                <a:solidFill>
                  <a:schemeClr val="tx1"/>
                </a:solidFill>
              </a:rPr>
              <a:t>A section is assigned</a:t>
            </a:r>
            <a:endParaRPr lang="en-US" sz="1500" dirty="0"/>
          </a:p>
        </p:txBody>
      </p:sp>
      <p:sp>
        <p:nvSpPr>
          <p:cNvPr id="23" name="Who 3"/>
          <p:cNvSpPr/>
          <p:nvPr/>
        </p:nvSpPr>
        <p:spPr>
          <a:xfrm>
            <a:off x="4434840" y="4434840"/>
            <a:ext cx="1417320" cy="384048"/>
          </a:xfrm>
          <a:prstGeom prst="roundRect">
            <a:avLst>
              <a:gd name="adj" fmla="val 47619"/>
            </a:avLst>
          </a:prstGeom>
          <a:solidFill>
            <a:schemeClr val="bg2"/>
          </a:solidFill>
          <a:ln/>
        </p:spPr>
      </p:sp>
      <p:sp>
        <p:nvSpPr>
          <p:cNvPr id="24" name="Text 21"/>
          <p:cNvSpPr txBox="1"/>
          <p:nvPr/>
        </p:nvSpPr>
        <p:spPr>
          <a:xfrm>
            <a:off x="4434840" y="4434840"/>
            <a:ext cx="1417320" cy="384048"/>
          </a:xfrm>
          <a:prstGeom prst="rect">
            <a:avLst/>
          </a:prstGeom>
          <a:noFill/>
          <a:ln/>
        </p:spPr>
        <p:txBody>
          <a:bodyPr wrap="square" lIns="0" tIns="0" rIns="0" bIns="0" rtlCol="0" anchor="ctr"/>
          <a:lstStyle/>
          <a:p>
            <a:pPr algn="ctr" indent="0" marL="0">
              <a:buNone/>
            </a:pPr>
            <a:r>
              <a:rPr lang="en-US" sz="1200" b="1" dirty="0">
                <a:solidFill>
                  <a:schemeClr val="accent1"/>
                </a:solidFill>
              </a:rPr>
              <a:t>Registrar</a:t>
            </a:r>
            <a:endParaRPr lang="en-US" sz="1200" dirty="0"/>
          </a:p>
        </p:txBody>
      </p:sp>
      <p:sp>
        <p:nvSpPr>
          <p:cNvPr id="25" name="Step 4"/>
          <p:cNvSpPr/>
          <p:nvPr/>
        </p:nvSpPr>
        <p:spPr>
          <a:xfrm>
            <a:off x="6647688" y="1691640"/>
            <a:ext cx="731520" cy="731520"/>
          </a:xfrm>
          <a:prstGeom prst="ellipse">
            <a:avLst/>
          </a:prstGeom>
          <a:solidFill>
            <a:schemeClr val="accent1"/>
          </a:solidFill>
          <a:ln/>
        </p:spPr>
      </p:sp>
      <p:sp>
        <p:nvSpPr>
          <p:cNvPr id="26" name="Text 23"/>
          <p:cNvSpPr txBox="1"/>
          <p:nvPr/>
        </p:nvSpPr>
        <p:spPr>
          <a:xfrm>
            <a:off x="6647688" y="1691640"/>
            <a:ext cx="731520" cy="731520"/>
          </a:xfrm>
          <a:prstGeom prst="rect">
            <a:avLst/>
          </a:prstGeom>
          <a:noFill/>
          <a:ln/>
        </p:spPr>
        <p:txBody>
          <a:bodyPr wrap="square" lIns="0" tIns="0" rIns="0" bIns="0" rtlCol="0" anchor="ctr"/>
          <a:lstStyle/>
          <a:p>
            <a:pPr algn="ctr" indent="0" marL="0">
              <a:buNone/>
            </a:pPr>
            <a:r>
              <a:rPr lang="en-US" sz="2600" b="1" dirty="0">
                <a:solidFill>
                  <a:schemeClr val="bg1"/>
                </a:solidFill>
                <a:latin typeface="Cambria" pitchFamily="34" charset="0"/>
                <a:ea typeface="Cambria" pitchFamily="34" charset="-122"/>
                <a:cs typeface="Cambria" pitchFamily="34" charset="-120"/>
              </a:rPr>
              <a:t>4</a:t>
            </a:r>
            <a:endParaRPr lang="en-US" sz="2600" dirty="0"/>
          </a:p>
        </p:txBody>
      </p:sp>
      <p:sp>
        <p:nvSpPr>
          <p:cNvPr id="27" name="Arrow 4"/>
          <p:cNvSpPr/>
          <p:nvPr/>
        </p:nvSpPr>
        <p:spPr>
          <a:xfrm>
            <a:off x="7452360" y="2057400"/>
            <a:ext cx="594360" cy="0"/>
          </a:xfrm>
          <a:prstGeom prst="line">
            <a:avLst/>
          </a:prstGeom>
          <a:noFill/>
          <a:ln w="31750">
            <a:solidFill>
              <a:srgbClr val="6FB1E4"/>
            </a:solidFill>
            <a:prstDash val="solid"/>
            <a:tailEnd type="triangle"/>
          </a:ln>
        </p:spPr>
      </p:sp>
      <p:sp>
        <p:nvSpPr>
          <p:cNvPr id="28" name="Text 25"/>
          <p:cNvSpPr txBox="1"/>
          <p:nvPr/>
        </p:nvSpPr>
        <p:spPr>
          <a:xfrm>
            <a:off x="6172200" y="2697480"/>
            <a:ext cx="1691640" cy="457200"/>
          </a:xfrm>
          <a:prstGeom prst="rect">
            <a:avLst/>
          </a:prstGeom>
          <a:noFill/>
          <a:ln/>
        </p:spPr>
        <p:txBody>
          <a:bodyPr wrap="square" lIns="0" tIns="0" rIns="0" bIns="0" rtlCol="0" anchor="ctr"/>
          <a:lstStyle/>
          <a:p>
            <a:pPr algn="ctr" indent="0" marL="0">
              <a:buNone/>
            </a:pPr>
            <a:r>
              <a:rPr lang="en-US" sz="2200" b="1" dirty="0">
                <a:solidFill>
                  <a:schemeClr val="tx2"/>
                </a:solidFill>
                <a:latin typeface="Cambria" pitchFamily="34" charset="0"/>
                <a:ea typeface="Cambria" pitchFamily="34" charset="-122"/>
                <a:cs typeface="Cambria" pitchFamily="34" charset="-120"/>
              </a:rPr>
              <a:t>Fees</a:t>
            </a:r>
            <a:endParaRPr lang="en-US" sz="2200" dirty="0"/>
          </a:p>
        </p:txBody>
      </p:sp>
      <p:sp>
        <p:nvSpPr>
          <p:cNvPr id="29" name="Text 26"/>
          <p:cNvSpPr txBox="1"/>
          <p:nvPr/>
        </p:nvSpPr>
        <p:spPr>
          <a:xfrm>
            <a:off x="6172200" y="3200400"/>
            <a:ext cx="1691640" cy="1005840"/>
          </a:xfrm>
          <a:prstGeom prst="rect">
            <a:avLst/>
          </a:prstGeom>
          <a:noFill/>
          <a:ln/>
        </p:spPr>
        <p:txBody>
          <a:bodyPr wrap="square" lIns="0" tIns="0" rIns="0" bIns="0" rtlCol="0" anchor="t"/>
          <a:lstStyle/>
          <a:p>
            <a:pPr algn="ctr" indent="0" marL="0">
              <a:buNone/>
            </a:pPr>
            <a:r>
              <a:rPr lang="en-US" sz="1500" dirty="0">
                <a:solidFill>
                  <a:schemeClr val="tx1"/>
                </a:solidFill>
              </a:rPr>
              <a:t>The assessment is created automatically</a:t>
            </a:r>
            <a:endParaRPr lang="en-US" sz="1500" dirty="0"/>
          </a:p>
        </p:txBody>
      </p:sp>
      <p:sp>
        <p:nvSpPr>
          <p:cNvPr id="30" name="Who 4"/>
          <p:cNvSpPr/>
          <p:nvPr/>
        </p:nvSpPr>
        <p:spPr>
          <a:xfrm>
            <a:off x="6309360" y="4434840"/>
            <a:ext cx="1417320" cy="384048"/>
          </a:xfrm>
          <a:prstGeom prst="roundRect">
            <a:avLst>
              <a:gd name="adj" fmla="val 47619"/>
            </a:avLst>
          </a:prstGeom>
          <a:solidFill>
            <a:schemeClr val="bg2"/>
          </a:solidFill>
          <a:ln/>
        </p:spPr>
      </p:sp>
      <p:sp>
        <p:nvSpPr>
          <p:cNvPr id="31" name="Text 28"/>
          <p:cNvSpPr txBox="1"/>
          <p:nvPr/>
        </p:nvSpPr>
        <p:spPr>
          <a:xfrm>
            <a:off x="6309360" y="4434840"/>
            <a:ext cx="1417320" cy="384048"/>
          </a:xfrm>
          <a:prstGeom prst="rect">
            <a:avLst/>
          </a:prstGeom>
          <a:noFill/>
          <a:ln/>
        </p:spPr>
        <p:txBody>
          <a:bodyPr wrap="square" lIns="0" tIns="0" rIns="0" bIns="0" rtlCol="0" anchor="ctr"/>
          <a:lstStyle/>
          <a:p>
            <a:pPr algn="ctr" indent="0" marL="0">
              <a:buNone/>
            </a:pPr>
            <a:r>
              <a:rPr lang="en-US" sz="1200" b="1" dirty="0">
                <a:solidFill>
                  <a:schemeClr val="accent1"/>
                </a:solidFill>
              </a:rPr>
              <a:t>System</a:t>
            </a:r>
            <a:endParaRPr lang="en-US" sz="1200" dirty="0"/>
          </a:p>
        </p:txBody>
      </p:sp>
      <p:sp>
        <p:nvSpPr>
          <p:cNvPr id="32" name="Step 5"/>
          <p:cNvSpPr/>
          <p:nvPr/>
        </p:nvSpPr>
        <p:spPr>
          <a:xfrm>
            <a:off x="8522208" y="1691640"/>
            <a:ext cx="731520" cy="731520"/>
          </a:xfrm>
          <a:prstGeom prst="ellipse">
            <a:avLst/>
          </a:prstGeom>
          <a:solidFill>
            <a:schemeClr val="accent1"/>
          </a:solidFill>
          <a:ln/>
        </p:spPr>
      </p:sp>
      <p:sp>
        <p:nvSpPr>
          <p:cNvPr id="33" name="Text 30"/>
          <p:cNvSpPr txBox="1"/>
          <p:nvPr/>
        </p:nvSpPr>
        <p:spPr>
          <a:xfrm>
            <a:off x="8522208" y="1691640"/>
            <a:ext cx="731520" cy="731520"/>
          </a:xfrm>
          <a:prstGeom prst="rect">
            <a:avLst/>
          </a:prstGeom>
          <a:noFill/>
          <a:ln/>
        </p:spPr>
        <p:txBody>
          <a:bodyPr wrap="square" lIns="0" tIns="0" rIns="0" bIns="0" rtlCol="0" anchor="ctr"/>
          <a:lstStyle/>
          <a:p>
            <a:pPr algn="ctr" indent="0" marL="0">
              <a:buNone/>
            </a:pPr>
            <a:r>
              <a:rPr lang="en-US" sz="2600" b="1" dirty="0">
                <a:solidFill>
                  <a:schemeClr val="bg1"/>
                </a:solidFill>
                <a:latin typeface="Cambria" pitchFamily="34" charset="0"/>
                <a:ea typeface="Cambria" pitchFamily="34" charset="-122"/>
                <a:cs typeface="Cambria" pitchFamily="34" charset="-120"/>
              </a:rPr>
              <a:t>5</a:t>
            </a:r>
            <a:endParaRPr lang="en-US" sz="2600" dirty="0"/>
          </a:p>
        </p:txBody>
      </p:sp>
      <p:sp>
        <p:nvSpPr>
          <p:cNvPr id="34" name="Arrow 5"/>
          <p:cNvSpPr/>
          <p:nvPr/>
        </p:nvSpPr>
        <p:spPr>
          <a:xfrm>
            <a:off x="9326880" y="2057400"/>
            <a:ext cx="594360" cy="0"/>
          </a:xfrm>
          <a:prstGeom prst="line">
            <a:avLst/>
          </a:prstGeom>
          <a:noFill/>
          <a:ln w="31750">
            <a:solidFill>
              <a:srgbClr val="6FB1E4"/>
            </a:solidFill>
            <a:prstDash val="solid"/>
            <a:tailEnd type="triangle"/>
          </a:ln>
        </p:spPr>
      </p:sp>
      <p:sp>
        <p:nvSpPr>
          <p:cNvPr id="35" name="Text 32"/>
          <p:cNvSpPr txBox="1"/>
          <p:nvPr/>
        </p:nvSpPr>
        <p:spPr>
          <a:xfrm>
            <a:off x="8046720" y="2697480"/>
            <a:ext cx="1691640" cy="457200"/>
          </a:xfrm>
          <a:prstGeom prst="rect">
            <a:avLst/>
          </a:prstGeom>
          <a:noFill/>
          <a:ln/>
        </p:spPr>
        <p:txBody>
          <a:bodyPr wrap="square" lIns="0" tIns="0" rIns="0" bIns="0" rtlCol="0" anchor="ctr"/>
          <a:lstStyle/>
          <a:p>
            <a:pPr algn="ctr" indent="0" marL="0">
              <a:buNone/>
            </a:pPr>
            <a:r>
              <a:rPr lang="en-US" sz="2200" b="1" dirty="0">
                <a:solidFill>
                  <a:schemeClr val="tx2"/>
                </a:solidFill>
                <a:latin typeface="Cambria" pitchFamily="34" charset="0"/>
                <a:ea typeface="Cambria" pitchFamily="34" charset="-122"/>
                <a:cs typeface="Cambria" pitchFamily="34" charset="-120"/>
              </a:rPr>
              <a:t>Payment</a:t>
            </a:r>
            <a:endParaRPr lang="en-US" sz="2200" dirty="0"/>
          </a:p>
        </p:txBody>
      </p:sp>
      <p:sp>
        <p:nvSpPr>
          <p:cNvPr id="36" name="Text 33"/>
          <p:cNvSpPr txBox="1"/>
          <p:nvPr/>
        </p:nvSpPr>
        <p:spPr>
          <a:xfrm>
            <a:off x="8046720" y="3200400"/>
            <a:ext cx="1691640" cy="1005840"/>
          </a:xfrm>
          <a:prstGeom prst="rect">
            <a:avLst/>
          </a:prstGeom>
          <a:noFill/>
          <a:ln/>
        </p:spPr>
        <p:txBody>
          <a:bodyPr wrap="square" lIns="0" tIns="0" rIns="0" bIns="0" rtlCol="0" anchor="t"/>
          <a:lstStyle/>
          <a:p>
            <a:pPr algn="ctr" indent="0" marL="0">
              <a:buNone/>
            </a:pPr>
            <a:r>
              <a:rPr lang="en-US" sz="1500" dirty="0">
                <a:solidFill>
                  <a:schemeClr val="tx1"/>
                </a:solidFill>
              </a:rPr>
              <a:t>An official receipt is issued</a:t>
            </a:r>
            <a:endParaRPr lang="en-US" sz="1500" dirty="0"/>
          </a:p>
        </p:txBody>
      </p:sp>
      <p:sp>
        <p:nvSpPr>
          <p:cNvPr id="37" name="Who 5"/>
          <p:cNvSpPr/>
          <p:nvPr/>
        </p:nvSpPr>
        <p:spPr>
          <a:xfrm>
            <a:off x="8183880" y="4434840"/>
            <a:ext cx="1417320" cy="384048"/>
          </a:xfrm>
          <a:prstGeom prst="roundRect">
            <a:avLst>
              <a:gd name="adj" fmla="val 47619"/>
            </a:avLst>
          </a:prstGeom>
          <a:solidFill>
            <a:schemeClr val="bg2"/>
          </a:solidFill>
          <a:ln/>
        </p:spPr>
      </p:sp>
      <p:sp>
        <p:nvSpPr>
          <p:cNvPr id="38" name="Text 35"/>
          <p:cNvSpPr txBox="1"/>
          <p:nvPr/>
        </p:nvSpPr>
        <p:spPr>
          <a:xfrm>
            <a:off x="8183880" y="4434840"/>
            <a:ext cx="1417320" cy="384048"/>
          </a:xfrm>
          <a:prstGeom prst="rect">
            <a:avLst/>
          </a:prstGeom>
          <a:noFill/>
          <a:ln/>
        </p:spPr>
        <p:txBody>
          <a:bodyPr wrap="square" lIns="0" tIns="0" rIns="0" bIns="0" rtlCol="0" anchor="ctr"/>
          <a:lstStyle/>
          <a:p>
            <a:pPr algn="ctr" indent="0" marL="0">
              <a:buNone/>
            </a:pPr>
            <a:r>
              <a:rPr lang="en-US" sz="1200" b="1" dirty="0">
                <a:solidFill>
                  <a:schemeClr val="accent1"/>
                </a:solidFill>
              </a:rPr>
              <a:t>Cashier</a:t>
            </a:r>
            <a:endParaRPr lang="en-US" sz="1200" dirty="0"/>
          </a:p>
        </p:txBody>
      </p:sp>
      <p:sp>
        <p:nvSpPr>
          <p:cNvPr id="39" name="Step 6"/>
          <p:cNvSpPr/>
          <p:nvPr/>
        </p:nvSpPr>
        <p:spPr>
          <a:xfrm>
            <a:off x="10396728" y="1691640"/>
            <a:ext cx="731520" cy="731520"/>
          </a:xfrm>
          <a:prstGeom prst="ellipse">
            <a:avLst/>
          </a:prstGeom>
          <a:solidFill>
            <a:schemeClr val="accent4"/>
          </a:solidFill>
          <a:ln/>
        </p:spPr>
      </p:sp>
      <p:sp>
        <p:nvSpPr>
          <p:cNvPr id="40" name="Text 37"/>
          <p:cNvSpPr txBox="1"/>
          <p:nvPr/>
        </p:nvSpPr>
        <p:spPr>
          <a:xfrm>
            <a:off x="10396728" y="1691640"/>
            <a:ext cx="731520" cy="731520"/>
          </a:xfrm>
          <a:prstGeom prst="rect">
            <a:avLst/>
          </a:prstGeom>
          <a:noFill/>
          <a:ln/>
        </p:spPr>
        <p:txBody>
          <a:bodyPr wrap="square" lIns="0" tIns="0" rIns="0" bIns="0" rtlCol="0" anchor="ctr"/>
          <a:lstStyle/>
          <a:p>
            <a:pPr algn="ctr" indent="0" marL="0">
              <a:buNone/>
            </a:pPr>
            <a:r>
              <a:rPr lang="en-US" sz="2600" b="1" dirty="0">
                <a:solidFill>
                  <a:schemeClr val="bg1"/>
                </a:solidFill>
                <a:latin typeface="Cambria" pitchFamily="34" charset="0"/>
                <a:ea typeface="Cambria" pitchFamily="34" charset="-122"/>
                <a:cs typeface="Cambria" pitchFamily="34" charset="-120"/>
              </a:rPr>
              <a:t>6</a:t>
            </a:r>
            <a:endParaRPr lang="en-US" sz="2600" dirty="0"/>
          </a:p>
        </p:txBody>
      </p:sp>
      <p:sp>
        <p:nvSpPr>
          <p:cNvPr id="41" name="Text 38"/>
          <p:cNvSpPr txBox="1"/>
          <p:nvPr/>
        </p:nvSpPr>
        <p:spPr>
          <a:xfrm>
            <a:off x="9921240" y="2697480"/>
            <a:ext cx="1691640" cy="457200"/>
          </a:xfrm>
          <a:prstGeom prst="rect">
            <a:avLst/>
          </a:prstGeom>
          <a:noFill/>
          <a:ln/>
        </p:spPr>
        <p:txBody>
          <a:bodyPr wrap="square" lIns="0" tIns="0" rIns="0" bIns="0" rtlCol="0" anchor="ctr"/>
          <a:lstStyle/>
          <a:p>
            <a:pPr algn="ctr" indent="0" marL="0">
              <a:buNone/>
            </a:pPr>
            <a:r>
              <a:rPr lang="en-US" sz="2200" b="1" dirty="0">
                <a:solidFill>
                  <a:schemeClr val="tx2"/>
                </a:solidFill>
                <a:latin typeface="Cambria" pitchFamily="34" charset="0"/>
                <a:ea typeface="Cambria" pitchFamily="34" charset="-122"/>
                <a:cs typeface="Cambria" pitchFamily="34" charset="-120"/>
              </a:rPr>
              <a:t>Enrolled</a:t>
            </a:r>
            <a:endParaRPr lang="en-US" sz="2200" dirty="0"/>
          </a:p>
        </p:txBody>
      </p:sp>
      <p:sp>
        <p:nvSpPr>
          <p:cNvPr id="42" name="Text 39"/>
          <p:cNvSpPr txBox="1"/>
          <p:nvPr/>
        </p:nvSpPr>
        <p:spPr>
          <a:xfrm>
            <a:off x="9921240" y="3200400"/>
            <a:ext cx="1691640" cy="1005840"/>
          </a:xfrm>
          <a:prstGeom prst="rect">
            <a:avLst/>
          </a:prstGeom>
          <a:noFill/>
          <a:ln/>
        </p:spPr>
        <p:txBody>
          <a:bodyPr wrap="square" lIns="0" tIns="0" rIns="0" bIns="0" rtlCol="0" anchor="t"/>
          <a:lstStyle/>
          <a:p>
            <a:pPr algn="ctr" indent="0" marL="0">
              <a:buNone/>
            </a:pPr>
            <a:r>
              <a:rPr lang="en-US" sz="1500" dirty="0">
                <a:solidFill>
                  <a:schemeClr val="tx1"/>
                </a:solidFill>
              </a:rPr>
              <a:t>A student number is issued</a:t>
            </a:r>
            <a:endParaRPr lang="en-US" sz="1500" dirty="0"/>
          </a:p>
        </p:txBody>
      </p:sp>
      <p:sp>
        <p:nvSpPr>
          <p:cNvPr id="43" name="Who 6"/>
          <p:cNvSpPr/>
          <p:nvPr/>
        </p:nvSpPr>
        <p:spPr>
          <a:xfrm>
            <a:off x="10058400" y="4434840"/>
            <a:ext cx="1417320" cy="384048"/>
          </a:xfrm>
          <a:prstGeom prst="roundRect">
            <a:avLst>
              <a:gd name="adj" fmla="val 47619"/>
            </a:avLst>
          </a:prstGeom>
          <a:solidFill>
            <a:schemeClr val="bg2"/>
          </a:solidFill>
          <a:ln/>
        </p:spPr>
      </p:sp>
      <p:sp>
        <p:nvSpPr>
          <p:cNvPr id="44" name="Text 41"/>
          <p:cNvSpPr txBox="1"/>
          <p:nvPr/>
        </p:nvSpPr>
        <p:spPr>
          <a:xfrm>
            <a:off x="10058400" y="4434840"/>
            <a:ext cx="1417320" cy="384048"/>
          </a:xfrm>
          <a:prstGeom prst="rect">
            <a:avLst/>
          </a:prstGeom>
          <a:noFill/>
          <a:ln/>
        </p:spPr>
        <p:txBody>
          <a:bodyPr wrap="square" lIns="0" tIns="0" rIns="0" bIns="0" rtlCol="0" anchor="ctr"/>
          <a:lstStyle/>
          <a:p>
            <a:pPr algn="ctr" indent="0" marL="0">
              <a:buNone/>
            </a:pPr>
            <a:r>
              <a:rPr lang="en-US" sz="1200" b="1" dirty="0">
                <a:solidFill>
                  <a:schemeClr val="accent1"/>
                </a:solidFill>
              </a:rPr>
              <a:t>System</a:t>
            </a:r>
            <a:endParaRPr lang="en-US" sz="1200" dirty="0"/>
          </a:p>
        </p:txBody>
      </p:sp>
      <p:sp>
        <p:nvSpPr>
          <p:cNvPr id="45" name="Audit band"/>
          <p:cNvSpPr/>
          <p:nvPr/>
        </p:nvSpPr>
        <p:spPr>
          <a:xfrm>
            <a:off x="548640" y="5349240"/>
            <a:ext cx="11091672" cy="777240"/>
          </a:xfrm>
          <a:prstGeom prst="roundRect">
            <a:avLst>
              <a:gd name="adj" fmla="val 14118"/>
            </a:avLst>
          </a:prstGeom>
          <a:solidFill>
            <a:schemeClr val="bg2"/>
          </a:solidFill>
          <a:ln/>
        </p:spPr>
      </p:sp>
      <p:pic>
        <p:nvPicPr>
          <p:cNvPr id="46" name="Image 0" descr="History icon">    </p:cNvPr>
          <p:cNvPicPr>
            <a:picLocks noChangeAspect="1"/>
          </p:cNvPicPr>
          <p:nvPr/>
        </p:nvPicPr>
        <p:blipFill>
          <a:blip r:embed="rId1"/>
          <a:stretch>
            <a:fillRect/>
          </a:stretch>
        </p:blipFill>
        <p:spPr>
          <a:xfrm>
            <a:off x="822960" y="5504688"/>
            <a:ext cx="457200" cy="457200"/>
          </a:xfrm>
          <a:prstGeom prst="rect">
            <a:avLst/>
          </a:prstGeom>
        </p:spPr>
      </p:pic>
      <p:sp>
        <p:nvSpPr>
          <p:cNvPr id="47" name="Text 43"/>
          <p:cNvSpPr txBox="1"/>
          <p:nvPr/>
        </p:nvSpPr>
        <p:spPr>
          <a:xfrm>
            <a:off x="1508760" y="5349240"/>
            <a:ext cx="9875520" cy="777240"/>
          </a:xfrm>
          <a:prstGeom prst="rect">
            <a:avLst/>
          </a:prstGeom>
          <a:noFill/>
          <a:ln/>
        </p:spPr>
        <p:txBody>
          <a:bodyPr wrap="square" lIns="0" tIns="0" rIns="0" bIns="0" rtlCol="0" anchor="ctr"/>
          <a:lstStyle/>
          <a:p>
            <a:pPr indent="0" marL="0">
              <a:buNone/>
            </a:pPr>
            <a:r>
              <a:rPr lang="en-US" sz="2000" dirty="0">
                <a:solidFill>
                  <a:schemeClr val="tx2"/>
                </a:solidFill>
              </a:rPr>
              <a:t>Every step records who did it and when, so nothing depends on memory.</a:t>
            </a:r>
            <a:endParaRPr lang="en-US" sz="2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1672" cy="86868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Five roles, each with its own portal</a:t>
            </a:r>
            <a:endParaRPr lang="en-US" sz="3200" dirty="0"/>
          </a:p>
        </p:txBody>
      </p:sp>
      <p:sp>
        <p:nvSpPr>
          <p:cNvPr id="4" name="Student card"/>
          <p:cNvSpPr/>
          <p:nvPr/>
        </p:nvSpPr>
        <p:spPr>
          <a:xfrm>
            <a:off x="548640" y="1554480"/>
            <a:ext cx="2103120" cy="4069080"/>
          </a:xfrm>
          <a:prstGeom prst="roundRect">
            <a:avLst>
              <a:gd name="adj" fmla="val 5217"/>
            </a:avLst>
          </a:prstGeom>
          <a:solidFill>
            <a:schemeClr val="bg2"/>
          </a:solidFill>
          <a:ln/>
        </p:spPr>
      </p:sp>
      <p:sp>
        <p:nvSpPr>
          <p:cNvPr id="5" name="Student circle"/>
          <p:cNvSpPr/>
          <p:nvPr/>
        </p:nvSpPr>
        <p:spPr>
          <a:xfrm>
            <a:off x="1188720" y="1828800"/>
            <a:ext cx="822960" cy="822960"/>
          </a:xfrm>
          <a:prstGeom prst="ellipse">
            <a:avLst/>
          </a:prstGeom>
          <a:solidFill>
            <a:schemeClr val="accent1"/>
          </a:solidFill>
          <a:ln/>
        </p:spPr>
      </p:sp>
      <p:pic>
        <p:nvPicPr>
          <p:cNvPr id="6" name="Student icon" descr="Student">    </p:cNvPr>
          <p:cNvPicPr>
            <a:picLocks noChangeAspect="1"/>
          </p:cNvPicPr>
          <p:nvPr/>
        </p:nvPicPr>
        <p:blipFill>
          <a:blip r:embed="rId1"/>
          <a:stretch>
            <a:fillRect/>
          </a:stretch>
        </p:blipFill>
        <p:spPr>
          <a:xfrm>
            <a:off x="1410919" y="2050999"/>
            <a:ext cx="378562" cy="378562"/>
          </a:xfrm>
          <a:prstGeom prst="rect">
            <a:avLst/>
          </a:prstGeom>
        </p:spPr>
      </p:pic>
      <p:sp>
        <p:nvSpPr>
          <p:cNvPr id="7" name="Text 3"/>
          <p:cNvSpPr txBox="1"/>
          <p:nvPr/>
        </p:nvSpPr>
        <p:spPr>
          <a:xfrm>
            <a:off x="640080" y="2834640"/>
            <a:ext cx="1920240" cy="457200"/>
          </a:xfrm>
          <a:prstGeom prst="rect">
            <a:avLst/>
          </a:prstGeom>
          <a:noFill/>
          <a:ln/>
        </p:spPr>
        <p:txBody>
          <a:bodyPr wrap="square" lIns="0" tIns="0" rIns="0" bIns="0" rtlCol="0" anchor="ctr"/>
          <a:lstStyle/>
          <a:p>
            <a:pPr algn="ctr" indent="0" marL="0">
              <a:buNone/>
            </a:pPr>
            <a:r>
              <a:rPr lang="en-US" sz="2200" b="1" dirty="0">
                <a:solidFill>
                  <a:schemeClr val="tx2"/>
                </a:solidFill>
                <a:latin typeface="Cambria" pitchFamily="34" charset="0"/>
                <a:ea typeface="Cambria" pitchFamily="34" charset="-122"/>
                <a:cs typeface="Cambria" pitchFamily="34" charset="-120"/>
              </a:rPr>
              <a:t>Student</a:t>
            </a:r>
            <a:endParaRPr lang="en-US" sz="2200" dirty="0"/>
          </a:p>
        </p:txBody>
      </p:sp>
      <p:sp>
        <p:nvSpPr>
          <p:cNvPr id="8" name="Student tasks"/>
          <p:cNvSpPr txBox="1"/>
          <p:nvPr/>
        </p:nvSpPr>
        <p:spPr>
          <a:xfrm>
            <a:off x="731520" y="3474720"/>
            <a:ext cx="1783080" cy="2377440"/>
          </a:xfrm>
          <a:prstGeom prst="rect">
            <a:avLst/>
          </a:prstGeom>
          <a:noFill/>
          <a:ln/>
        </p:spPr>
        <p:txBody>
          <a:bodyPr wrap="square" lIns="0" tIns="0" rIns="0" bIns="0" rtlCol="0" anchor="t"/>
          <a:lstStyle/>
          <a:p>
            <a:pPr marL="177800" indent="-177800">
              <a:spcAft>
                <a:spcPts val="1000"/>
              </a:spcAft>
              <a:buSzPct val="100000"/>
              <a:buChar char="•"/>
            </a:pPr>
            <a:r>
              <a:rPr lang="en-US" sz="1500" dirty="0">
                <a:solidFill>
                  <a:schemeClr val="tx1"/>
                </a:solidFill>
              </a:rPr>
              <a:t>Apply and upload documents</a:t>
            </a:r>
            <a:endParaRPr lang="en-US" sz="1500" dirty="0"/>
          </a:p>
          <a:p>
            <a:pPr marL="177800" indent="-177800">
              <a:spcAft>
                <a:spcPts val="1000"/>
              </a:spcAft>
              <a:buSzPct val="100000"/>
              <a:buChar char="•"/>
            </a:pPr>
            <a:r>
              <a:rPr lang="en-US" sz="1500" dirty="0">
                <a:solidFill>
                  <a:schemeClr val="tx1"/>
                </a:solidFill>
              </a:rPr>
              <a:t>Pay and see the balance</a:t>
            </a:r>
            <a:endParaRPr lang="en-US" sz="1500" dirty="0"/>
          </a:p>
          <a:p>
            <a:pPr marL="177800" indent="-177800">
              <a:spcAft>
                <a:spcPts val="1000"/>
              </a:spcAft>
              <a:buSzPct val="100000"/>
              <a:buChar char="•"/>
            </a:pPr>
            <a:r>
              <a:rPr lang="en-US" sz="1500" dirty="0">
                <a:solidFill>
                  <a:schemeClr val="tx1"/>
                </a:solidFill>
              </a:rPr>
              <a:t>Schedule and grades</a:t>
            </a:r>
            <a:endParaRPr lang="en-US" sz="1500" dirty="0"/>
          </a:p>
        </p:txBody>
      </p:sp>
      <p:sp>
        <p:nvSpPr>
          <p:cNvPr id="9" name="Teacher card"/>
          <p:cNvSpPr/>
          <p:nvPr/>
        </p:nvSpPr>
        <p:spPr>
          <a:xfrm>
            <a:off x="2788920" y="1554480"/>
            <a:ext cx="2103120" cy="4069080"/>
          </a:xfrm>
          <a:prstGeom prst="roundRect">
            <a:avLst>
              <a:gd name="adj" fmla="val 5217"/>
            </a:avLst>
          </a:prstGeom>
          <a:solidFill>
            <a:schemeClr val="bg2"/>
          </a:solidFill>
          <a:ln/>
        </p:spPr>
      </p:sp>
      <p:sp>
        <p:nvSpPr>
          <p:cNvPr id="10" name="Teacher circle"/>
          <p:cNvSpPr/>
          <p:nvPr/>
        </p:nvSpPr>
        <p:spPr>
          <a:xfrm>
            <a:off x="3429000" y="1828800"/>
            <a:ext cx="822960" cy="822960"/>
          </a:xfrm>
          <a:prstGeom prst="ellipse">
            <a:avLst/>
          </a:prstGeom>
          <a:solidFill>
            <a:schemeClr val="accent1"/>
          </a:solidFill>
          <a:ln/>
        </p:spPr>
      </p:sp>
      <p:pic>
        <p:nvPicPr>
          <p:cNvPr id="11" name="Teacher icon" descr="Teacher">    </p:cNvPr>
          <p:cNvPicPr>
            <a:picLocks noChangeAspect="1"/>
          </p:cNvPicPr>
          <p:nvPr/>
        </p:nvPicPr>
        <p:blipFill>
          <a:blip r:embed="rId2"/>
          <a:stretch>
            <a:fillRect/>
          </a:stretch>
        </p:blipFill>
        <p:spPr>
          <a:xfrm>
            <a:off x="3651199" y="2050999"/>
            <a:ext cx="378562" cy="378562"/>
          </a:xfrm>
          <a:prstGeom prst="rect">
            <a:avLst/>
          </a:prstGeom>
        </p:spPr>
      </p:pic>
      <p:sp>
        <p:nvSpPr>
          <p:cNvPr id="12" name="Text 7"/>
          <p:cNvSpPr txBox="1"/>
          <p:nvPr/>
        </p:nvSpPr>
        <p:spPr>
          <a:xfrm>
            <a:off x="2880360" y="2834640"/>
            <a:ext cx="1920240" cy="457200"/>
          </a:xfrm>
          <a:prstGeom prst="rect">
            <a:avLst/>
          </a:prstGeom>
          <a:noFill/>
          <a:ln/>
        </p:spPr>
        <p:txBody>
          <a:bodyPr wrap="square" lIns="0" tIns="0" rIns="0" bIns="0" rtlCol="0" anchor="ctr"/>
          <a:lstStyle/>
          <a:p>
            <a:pPr algn="ctr" indent="0" marL="0">
              <a:buNone/>
            </a:pPr>
            <a:r>
              <a:rPr lang="en-US" sz="2200" b="1" dirty="0">
                <a:solidFill>
                  <a:schemeClr val="tx2"/>
                </a:solidFill>
                <a:latin typeface="Cambria" pitchFamily="34" charset="0"/>
                <a:ea typeface="Cambria" pitchFamily="34" charset="-122"/>
                <a:cs typeface="Cambria" pitchFamily="34" charset="-120"/>
              </a:rPr>
              <a:t>Teacher</a:t>
            </a:r>
            <a:endParaRPr lang="en-US" sz="2200" dirty="0"/>
          </a:p>
        </p:txBody>
      </p:sp>
      <p:sp>
        <p:nvSpPr>
          <p:cNvPr id="13" name="Teacher tasks"/>
          <p:cNvSpPr txBox="1"/>
          <p:nvPr/>
        </p:nvSpPr>
        <p:spPr>
          <a:xfrm>
            <a:off x="2971800" y="3474720"/>
            <a:ext cx="1783080" cy="2377440"/>
          </a:xfrm>
          <a:prstGeom prst="rect">
            <a:avLst/>
          </a:prstGeom>
          <a:noFill/>
          <a:ln/>
        </p:spPr>
        <p:txBody>
          <a:bodyPr wrap="square" lIns="0" tIns="0" rIns="0" bIns="0" rtlCol="0" anchor="t"/>
          <a:lstStyle/>
          <a:p>
            <a:pPr marL="177800" indent="-177800">
              <a:spcAft>
                <a:spcPts val="1000"/>
              </a:spcAft>
              <a:buSzPct val="100000"/>
              <a:buChar char="•"/>
            </a:pPr>
            <a:r>
              <a:rPr lang="en-US" sz="1500" dirty="0">
                <a:solidFill>
                  <a:schemeClr val="tx1"/>
                </a:solidFill>
              </a:rPr>
              <a:t>Record attendance</a:t>
            </a:r>
            <a:endParaRPr lang="en-US" sz="1500" dirty="0"/>
          </a:p>
          <a:p>
            <a:pPr marL="177800" indent="-177800">
              <a:spcAft>
                <a:spcPts val="1000"/>
              </a:spcAft>
              <a:buSzPct val="100000"/>
              <a:buChar char="•"/>
            </a:pPr>
            <a:r>
              <a:rPr lang="en-US" sz="1500" dirty="0">
                <a:solidFill>
                  <a:schemeClr val="tx1"/>
                </a:solidFill>
              </a:rPr>
              <a:t>Enter grades</a:t>
            </a:r>
            <a:endParaRPr lang="en-US" sz="1500" dirty="0"/>
          </a:p>
          <a:p>
            <a:pPr marL="177800" indent="-177800">
              <a:spcAft>
                <a:spcPts val="1000"/>
              </a:spcAft>
              <a:buSzPct val="100000"/>
              <a:buChar char="•"/>
            </a:pPr>
            <a:r>
              <a:rPr lang="en-US" sz="1500" dirty="0">
                <a:solidFill>
                  <a:schemeClr val="tx1"/>
                </a:solidFill>
              </a:rPr>
              <a:t>Class lists and schedule</a:t>
            </a:r>
            <a:endParaRPr lang="en-US" sz="1500" dirty="0"/>
          </a:p>
        </p:txBody>
      </p:sp>
      <p:sp>
        <p:nvSpPr>
          <p:cNvPr id="14" name="Registrar card"/>
          <p:cNvSpPr/>
          <p:nvPr/>
        </p:nvSpPr>
        <p:spPr>
          <a:xfrm>
            <a:off x="5029200" y="1554480"/>
            <a:ext cx="2103120" cy="4069080"/>
          </a:xfrm>
          <a:prstGeom prst="roundRect">
            <a:avLst>
              <a:gd name="adj" fmla="val 5217"/>
            </a:avLst>
          </a:prstGeom>
          <a:solidFill>
            <a:schemeClr val="bg2"/>
          </a:solidFill>
          <a:ln/>
        </p:spPr>
      </p:sp>
      <p:sp>
        <p:nvSpPr>
          <p:cNvPr id="15" name="Registrar circle"/>
          <p:cNvSpPr/>
          <p:nvPr/>
        </p:nvSpPr>
        <p:spPr>
          <a:xfrm>
            <a:off x="5669280" y="1828800"/>
            <a:ext cx="822960" cy="822960"/>
          </a:xfrm>
          <a:prstGeom prst="ellipse">
            <a:avLst/>
          </a:prstGeom>
          <a:solidFill>
            <a:schemeClr val="accent1"/>
          </a:solidFill>
          <a:ln/>
        </p:spPr>
      </p:sp>
      <p:pic>
        <p:nvPicPr>
          <p:cNvPr id="16" name="Registrar icon" descr="Registrar">    </p:cNvPr>
          <p:cNvPicPr>
            <a:picLocks noChangeAspect="1"/>
          </p:cNvPicPr>
          <p:nvPr/>
        </p:nvPicPr>
        <p:blipFill>
          <a:blip r:embed="rId3"/>
          <a:stretch>
            <a:fillRect/>
          </a:stretch>
        </p:blipFill>
        <p:spPr>
          <a:xfrm>
            <a:off x="5891479" y="2050999"/>
            <a:ext cx="378562" cy="378562"/>
          </a:xfrm>
          <a:prstGeom prst="rect">
            <a:avLst/>
          </a:prstGeom>
        </p:spPr>
      </p:pic>
      <p:sp>
        <p:nvSpPr>
          <p:cNvPr id="17" name="Text 11"/>
          <p:cNvSpPr txBox="1"/>
          <p:nvPr/>
        </p:nvSpPr>
        <p:spPr>
          <a:xfrm>
            <a:off x="5120640" y="2834640"/>
            <a:ext cx="1920240" cy="457200"/>
          </a:xfrm>
          <a:prstGeom prst="rect">
            <a:avLst/>
          </a:prstGeom>
          <a:noFill/>
          <a:ln/>
        </p:spPr>
        <p:txBody>
          <a:bodyPr wrap="square" lIns="0" tIns="0" rIns="0" bIns="0" rtlCol="0" anchor="ctr"/>
          <a:lstStyle/>
          <a:p>
            <a:pPr algn="ctr" indent="0" marL="0">
              <a:buNone/>
            </a:pPr>
            <a:r>
              <a:rPr lang="en-US" sz="2200" b="1" dirty="0">
                <a:solidFill>
                  <a:schemeClr val="tx2"/>
                </a:solidFill>
                <a:latin typeface="Cambria" pitchFamily="34" charset="0"/>
                <a:ea typeface="Cambria" pitchFamily="34" charset="-122"/>
                <a:cs typeface="Cambria" pitchFamily="34" charset="-120"/>
              </a:rPr>
              <a:t>Registrar</a:t>
            </a:r>
            <a:endParaRPr lang="en-US" sz="2200" dirty="0"/>
          </a:p>
        </p:txBody>
      </p:sp>
      <p:sp>
        <p:nvSpPr>
          <p:cNvPr id="18" name="Registrar tasks"/>
          <p:cNvSpPr txBox="1"/>
          <p:nvPr/>
        </p:nvSpPr>
        <p:spPr>
          <a:xfrm>
            <a:off x="5212080" y="3474720"/>
            <a:ext cx="1783080" cy="2377440"/>
          </a:xfrm>
          <a:prstGeom prst="rect">
            <a:avLst/>
          </a:prstGeom>
          <a:noFill/>
          <a:ln/>
        </p:spPr>
        <p:txBody>
          <a:bodyPr wrap="square" lIns="0" tIns="0" rIns="0" bIns="0" rtlCol="0" anchor="t"/>
          <a:lstStyle/>
          <a:p>
            <a:pPr marL="177800" indent="-177800">
              <a:spcAft>
                <a:spcPts val="1000"/>
              </a:spcAft>
              <a:buSzPct val="100000"/>
              <a:buChar char="•"/>
            </a:pPr>
            <a:r>
              <a:rPr lang="en-US" sz="1500" dirty="0">
                <a:solidFill>
                  <a:schemeClr val="tx1"/>
                </a:solidFill>
              </a:rPr>
              <a:t>Review and approve</a:t>
            </a:r>
            <a:endParaRPr lang="en-US" sz="1500" dirty="0"/>
          </a:p>
          <a:p>
            <a:pPr marL="177800" indent="-177800">
              <a:spcAft>
                <a:spcPts val="1000"/>
              </a:spcAft>
              <a:buSzPct val="100000"/>
              <a:buChar char="•"/>
            </a:pPr>
            <a:r>
              <a:rPr lang="en-US" sz="1500" dirty="0">
                <a:solidFill>
                  <a:schemeClr val="tx1"/>
                </a:solidFill>
              </a:rPr>
              <a:t>Sections and curriculum</a:t>
            </a:r>
            <a:endParaRPr lang="en-US" sz="1500" dirty="0"/>
          </a:p>
          <a:p>
            <a:pPr marL="177800" indent="-177800">
              <a:spcAft>
                <a:spcPts val="1000"/>
              </a:spcAft>
              <a:buSzPct val="100000"/>
              <a:buChar char="•"/>
            </a:pPr>
            <a:r>
              <a:rPr lang="en-US" sz="1500" dirty="0">
                <a:solidFill>
                  <a:schemeClr val="tx1"/>
                </a:solidFill>
              </a:rPr>
              <a:t>Student records</a:t>
            </a:r>
            <a:endParaRPr lang="en-US" sz="1500" dirty="0"/>
          </a:p>
        </p:txBody>
      </p:sp>
      <p:sp>
        <p:nvSpPr>
          <p:cNvPr id="19" name="Cashier card"/>
          <p:cNvSpPr/>
          <p:nvPr/>
        </p:nvSpPr>
        <p:spPr>
          <a:xfrm>
            <a:off x="7269480" y="1554480"/>
            <a:ext cx="2103120" cy="4069080"/>
          </a:xfrm>
          <a:prstGeom prst="roundRect">
            <a:avLst>
              <a:gd name="adj" fmla="val 5217"/>
            </a:avLst>
          </a:prstGeom>
          <a:solidFill>
            <a:schemeClr val="bg2"/>
          </a:solidFill>
          <a:ln/>
        </p:spPr>
      </p:sp>
      <p:sp>
        <p:nvSpPr>
          <p:cNvPr id="20" name="Cashier circle"/>
          <p:cNvSpPr/>
          <p:nvPr/>
        </p:nvSpPr>
        <p:spPr>
          <a:xfrm>
            <a:off x="7909560" y="1828800"/>
            <a:ext cx="822960" cy="822960"/>
          </a:xfrm>
          <a:prstGeom prst="ellipse">
            <a:avLst/>
          </a:prstGeom>
          <a:solidFill>
            <a:schemeClr val="accent1"/>
          </a:solidFill>
          <a:ln/>
        </p:spPr>
      </p:sp>
      <p:pic>
        <p:nvPicPr>
          <p:cNvPr id="21" name="Cashier icon" descr="Cashier">    </p:cNvPr>
          <p:cNvPicPr>
            <a:picLocks noChangeAspect="1"/>
          </p:cNvPicPr>
          <p:nvPr/>
        </p:nvPicPr>
        <p:blipFill>
          <a:blip r:embed="rId4"/>
          <a:stretch>
            <a:fillRect/>
          </a:stretch>
        </p:blipFill>
        <p:spPr>
          <a:xfrm>
            <a:off x="8131759" y="2050999"/>
            <a:ext cx="378562" cy="378562"/>
          </a:xfrm>
          <a:prstGeom prst="rect">
            <a:avLst/>
          </a:prstGeom>
        </p:spPr>
      </p:pic>
      <p:sp>
        <p:nvSpPr>
          <p:cNvPr id="22" name="Text 15"/>
          <p:cNvSpPr txBox="1"/>
          <p:nvPr/>
        </p:nvSpPr>
        <p:spPr>
          <a:xfrm>
            <a:off x="7360920" y="2834640"/>
            <a:ext cx="1920240" cy="457200"/>
          </a:xfrm>
          <a:prstGeom prst="rect">
            <a:avLst/>
          </a:prstGeom>
          <a:noFill/>
          <a:ln/>
        </p:spPr>
        <p:txBody>
          <a:bodyPr wrap="square" lIns="0" tIns="0" rIns="0" bIns="0" rtlCol="0" anchor="ctr"/>
          <a:lstStyle/>
          <a:p>
            <a:pPr algn="ctr" indent="0" marL="0">
              <a:buNone/>
            </a:pPr>
            <a:r>
              <a:rPr lang="en-US" sz="2200" b="1" dirty="0">
                <a:solidFill>
                  <a:schemeClr val="tx2"/>
                </a:solidFill>
                <a:latin typeface="Cambria" pitchFamily="34" charset="0"/>
                <a:ea typeface="Cambria" pitchFamily="34" charset="-122"/>
                <a:cs typeface="Cambria" pitchFamily="34" charset="-120"/>
              </a:rPr>
              <a:t>Cashier</a:t>
            </a:r>
            <a:endParaRPr lang="en-US" sz="2200" dirty="0"/>
          </a:p>
        </p:txBody>
      </p:sp>
      <p:sp>
        <p:nvSpPr>
          <p:cNvPr id="23" name="Cashier tasks"/>
          <p:cNvSpPr txBox="1"/>
          <p:nvPr/>
        </p:nvSpPr>
        <p:spPr>
          <a:xfrm>
            <a:off x="7452360" y="3474720"/>
            <a:ext cx="1783080" cy="2377440"/>
          </a:xfrm>
          <a:prstGeom prst="rect">
            <a:avLst/>
          </a:prstGeom>
          <a:noFill/>
          <a:ln/>
        </p:spPr>
        <p:txBody>
          <a:bodyPr wrap="square" lIns="0" tIns="0" rIns="0" bIns="0" rtlCol="0" anchor="t"/>
          <a:lstStyle/>
          <a:p>
            <a:pPr marL="177800" indent="-177800">
              <a:spcAft>
                <a:spcPts val="1000"/>
              </a:spcAft>
              <a:buSzPct val="100000"/>
              <a:buChar char="•"/>
            </a:pPr>
            <a:r>
              <a:rPr lang="en-US" sz="1500" dirty="0">
                <a:solidFill>
                  <a:schemeClr val="tx1"/>
                </a:solidFill>
              </a:rPr>
              <a:t>Fees and payments</a:t>
            </a:r>
            <a:endParaRPr lang="en-US" sz="1500" dirty="0"/>
          </a:p>
          <a:p>
            <a:pPr marL="177800" indent="-177800">
              <a:spcAft>
                <a:spcPts val="1000"/>
              </a:spcAft>
              <a:buSzPct val="100000"/>
              <a:buChar char="•"/>
            </a:pPr>
            <a:r>
              <a:rPr lang="en-US" sz="1500" dirty="0">
                <a:solidFill>
                  <a:schemeClr val="tx1"/>
                </a:solidFill>
              </a:rPr>
              <a:t>Receipts and ledger</a:t>
            </a:r>
            <a:endParaRPr lang="en-US" sz="1500" dirty="0"/>
          </a:p>
          <a:p>
            <a:pPr marL="177800" indent="-177800">
              <a:spcAft>
                <a:spcPts val="1000"/>
              </a:spcAft>
              <a:buSzPct val="100000"/>
              <a:buChar char="•"/>
            </a:pPr>
            <a:r>
              <a:rPr lang="en-US" sz="1500" dirty="0">
                <a:solidFill>
                  <a:schemeClr val="tx1"/>
                </a:solidFill>
              </a:rPr>
              <a:t>Cash book and reports</a:t>
            </a:r>
            <a:endParaRPr lang="en-US" sz="1500" dirty="0"/>
          </a:p>
        </p:txBody>
      </p:sp>
      <p:sp>
        <p:nvSpPr>
          <p:cNvPr id="24" name="Administrator card"/>
          <p:cNvSpPr/>
          <p:nvPr/>
        </p:nvSpPr>
        <p:spPr>
          <a:xfrm>
            <a:off x="9509760" y="1554480"/>
            <a:ext cx="2103120" cy="4069080"/>
          </a:xfrm>
          <a:prstGeom prst="roundRect">
            <a:avLst>
              <a:gd name="adj" fmla="val 5217"/>
            </a:avLst>
          </a:prstGeom>
          <a:solidFill>
            <a:schemeClr val="bg2"/>
          </a:solidFill>
          <a:ln/>
        </p:spPr>
      </p:sp>
      <p:sp>
        <p:nvSpPr>
          <p:cNvPr id="25" name="Administrator circle"/>
          <p:cNvSpPr/>
          <p:nvPr/>
        </p:nvSpPr>
        <p:spPr>
          <a:xfrm>
            <a:off x="10149840" y="1828800"/>
            <a:ext cx="822960" cy="822960"/>
          </a:xfrm>
          <a:prstGeom prst="ellipse">
            <a:avLst/>
          </a:prstGeom>
          <a:solidFill>
            <a:schemeClr val="tx2"/>
          </a:solidFill>
          <a:ln/>
        </p:spPr>
      </p:sp>
      <p:pic>
        <p:nvPicPr>
          <p:cNvPr id="26" name="Administrator icon" descr="Administrator">    </p:cNvPr>
          <p:cNvPicPr>
            <a:picLocks noChangeAspect="1"/>
          </p:cNvPicPr>
          <p:nvPr/>
        </p:nvPicPr>
        <p:blipFill>
          <a:blip r:embed="rId5"/>
          <a:stretch>
            <a:fillRect/>
          </a:stretch>
        </p:blipFill>
        <p:spPr>
          <a:xfrm>
            <a:off x="10372039" y="2050999"/>
            <a:ext cx="378562" cy="378562"/>
          </a:xfrm>
          <a:prstGeom prst="rect">
            <a:avLst/>
          </a:prstGeom>
        </p:spPr>
      </p:pic>
      <p:sp>
        <p:nvSpPr>
          <p:cNvPr id="27" name="Text 19"/>
          <p:cNvSpPr txBox="1"/>
          <p:nvPr/>
        </p:nvSpPr>
        <p:spPr>
          <a:xfrm>
            <a:off x="9601200" y="2834640"/>
            <a:ext cx="1920240" cy="457200"/>
          </a:xfrm>
          <a:prstGeom prst="rect">
            <a:avLst/>
          </a:prstGeom>
          <a:noFill/>
          <a:ln/>
        </p:spPr>
        <p:txBody>
          <a:bodyPr wrap="square" lIns="0" tIns="0" rIns="0" bIns="0" rtlCol="0" anchor="ctr"/>
          <a:lstStyle/>
          <a:p>
            <a:pPr algn="ctr" indent="0" marL="0">
              <a:buNone/>
            </a:pPr>
            <a:r>
              <a:rPr lang="en-US" sz="2200" b="1" dirty="0">
                <a:solidFill>
                  <a:schemeClr val="tx2"/>
                </a:solidFill>
                <a:latin typeface="Cambria" pitchFamily="34" charset="0"/>
                <a:ea typeface="Cambria" pitchFamily="34" charset="-122"/>
                <a:cs typeface="Cambria" pitchFamily="34" charset="-120"/>
              </a:rPr>
              <a:t>Administrator</a:t>
            </a:r>
            <a:endParaRPr lang="en-US" sz="2200" dirty="0"/>
          </a:p>
        </p:txBody>
      </p:sp>
      <p:sp>
        <p:nvSpPr>
          <p:cNvPr id="28" name="Administrator tasks"/>
          <p:cNvSpPr txBox="1"/>
          <p:nvPr/>
        </p:nvSpPr>
        <p:spPr>
          <a:xfrm>
            <a:off x="9692640" y="3474720"/>
            <a:ext cx="1783080" cy="2377440"/>
          </a:xfrm>
          <a:prstGeom prst="rect">
            <a:avLst/>
          </a:prstGeom>
          <a:noFill/>
          <a:ln/>
        </p:spPr>
        <p:txBody>
          <a:bodyPr wrap="square" lIns="0" tIns="0" rIns="0" bIns="0" rtlCol="0" anchor="t"/>
          <a:lstStyle/>
          <a:p>
            <a:pPr marL="177800" indent="-177800">
              <a:spcAft>
                <a:spcPts val="1000"/>
              </a:spcAft>
              <a:buSzPct val="100000"/>
              <a:buChar char="•"/>
            </a:pPr>
            <a:r>
              <a:rPr lang="en-US" sz="1500" dirty="0">
                <a:solidFill>
                  <a:schemeClr val="tx1"/>
                </a:solidFill>
              </a:rPr>
              <a:t>Accounts and roles</a:t>
            </a:r>
            <a:endParaRPr lang="en-US" sz="1500" dirty="0"/>
          </a:p>
          <a:p>
            <a:pPr marL="177800" indent="-177800">
              <a:spcAft>
                <a:spcPts val="1000"/>
              </a:spcAft>
              <a:buSzPct val="100000"/>
              <a:buChar char="•"/>
            </a:pPr>
            <a:r>
              <a:rPr lang="en-US" sz="1500" dirty="0">
                <a:solidFill>
                  <a:schemeClr val="tx1"/>
                </a:solidFill>
              </a:rPr>
              <a:t>Audit log</a:t>
            </a:r>
            <a:endParaRPr lang="en-US" sz="1500" dirty="0"/>
          </a:p>
          <a:p>
            <a:pPr marL="177800" indent="-177800">
              <a:spcAft>
                <a:spcPts val="1000"/>
              </a:spcAft>
              <a:buSzPct val="100000"/>
              <a:buChar char="•"/>
            </a:pPr>
            <a:r>
              <a:rPr lang="en-US" sz="1500" dirty="0">
                <a:solidFill>
                  <a:schemeClr val="tx1"/>
                </a:solidFill>
              </a:rPr>
              <a:t>Backups and settings</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1672" cy="86868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Walk-in enrollment, done in one pass</a:t>
            </a:r>
            <a:endParaRPr lang="en-US" sz="3200" dirty="0"/>
          </a:p>
        </p:txBody>
      </p:sp>
      <p:sp>
        <p:nvSpPr>
          <p:cNvPr id="4" name="Bullets"/>
          <p:cNvSpPr txBox="1"/>
          <p:nvPr/>
        </p:nvSpPr>
        <p:spPr>
          <a:xfrm>
            <a:off x="548640" y="1645920"/>
            <a:ext cx="5029200" cy="4023360"/>
          </a:xfrm>
          <a:prstGeom prst="rect">
            <a:avLst/>
          </a:prstGeom>
          <a:noFill/>
          <a:ln/>
        </p:spPr>
        <p:txBody>
          <a:bodyPr wrap="square" lIns="0" tIns="0" rIns="0" bIns="0" rtlCol="0" anchor="t"/>
          <a:lstStyle/>
          <a:p>
            <a:pPr marL="228600" indent="-228600">
              <a:spcAft>
                <a:spcPts val="1400"/>
              </a:spcAft>
              <a:buSzPct val="100000"/>
              <a:buChar char="•"/>
            </a:pPr>
            <a:r>
              <a:rPr lang="en-US" sz="2000" dirty="0">
                <a:solidFill>
                  <a:schemeClr val="tx1"/>
                </a:solidFill>
                <a:latin typeface="Calibri" pitchFamily="34" charset="0"/>
                <a:ea typeface="Calibri" pitchFamily="34" charset="-122"/>
                <a:cs typeface="Calibri" pitchFamily="34" charset="-120"/>
              </a:rPr>
              <a:t>Every mistake shown at once, not one per click</a:t>
            </a:r>
            <a:endParaRPr lang="en-US" sz="2000" dirty="0"/>
          </a:p>
          <a:p>
            <a:pPr marL="228600" indent="-228600">
              <a:spcAft>
                <a:spcPts val="1400"/>
              </a:spcAft>
              <a:buSzPct val="100000"/>
              <a:buChar char="•"/>
            </a:pPr>
            <a:r>
              <a:rPr lang="en-US" sz="2000" dirty="0">
                <a:solidFill>
                  <a:schemeClr val="tx1"/>
                </a:solidFill>
                <a:latin typeface="Calibri" pitchFamily="34" charset="0"/>
                <a:ea typeface="Calibri" pitchFamily="34" charset="-122"/>
                <a:cs typeface="Calibri" pitchFamily="34" charset="-120"/>
              </a:rPr>
              <a:t>Warns if the person is already registered</a:t>
            </a:r>
            <a:endParaRPr lang="en-US" sz="2000" dirty="0"/>
          </a:p>
          <a:p>
            <a:pPr marL="228600" indent="-228600">
              <a:spcAft>
                <a:spcPts val="1400"/>
              </a:spcAft>
              <a:buSzPct val="100000"/>
              <a:buChar char="•"/>
            </a:pPr>
            <a:r>
              <a:rPr lang="en-US" sz="2000" dirty="0">
                <a:solidFill>
                  <a:schemeClr val="tx1"/>
                </a:solidFill>
                <a:latin typeface="Calibri" pitchFamily="34" charset="0"/>
                <a:ea typeface="Calibri" pitchFamily="34" charset="-122"/>
                <a:cs typeface="Calibri" pitchFamily="34" charset="-120"/>
              </a:rPr>
              <a:t>Documents ticked and photo taken at the counter</a:t>
            </a:r>
            <a:endParaRPr lang="en-US" sz="2000" dirty="0"/>
          </a:p>
          <a:p>
            <a:pPr marL="228600" indent="-228600">
              <a:spcAft>
                <a:spcPts val="1400"/>
              </a:spcAft>
              <a:buSzPct val="100000"/>
              <a:buChar char="•"/>
            </a:pPr>
            <a:r>
              <a:rPr lang="en-US" sz="2000" dirty="0">
                <a:solidFill>
                  <a:schemeClr val="tx1"/>
                </a:solidFill>
                <a:latin typeface="Calibri" pitchFamily="34" charset="0"/>
                <a:ea typeface="Calibri" pitchFamily="34" charset="-122"/>
                <a:cs typeface="Calibri" pitchFamily="34" charset="-120"/>
              </a:rPr>
              <a:t>Submit goes straight to review. No shared passwords.</a:t>
            </a:r>
            <a:endParaRPr lang="en-US" sz="2000" dirty="0"/>
          </a:p>
        </p:txBody>
      </p:sp>
      <p:sp>
        <p:nvSpPr>
          <p:cNvPr id="5" name="Walk-in documents screenshot frame"/>
          <p:cNvSpPr/>
          <p:nvPr/>
        </p:nvSpPr>
        <p:spPr>
          <a:xfrm>
            <a:off x="5989320" y="1508760"/>
            <a:ext cx="5650992" cy="3529584"/>
          </a:xfrm>
          <a:prstGeom prst="roundRect">
            <a:avLst>
              <a:gd name="adj" fmla="val 2073"/>
            </a:avLst>
          </a:prstGeom>
          <a:solidFill>
            <a:schemeClr val="bg1"/>
          </a:solidFill>
          <a:ln w="12700">
            <a:solidFill>
              <a:srgbClr val="EAF3FB"/>
            </a:solidFill>
            <a:prstDash val="solid"/>
          </a:ln>
          <a:effectLst>
            <a:outerShdw sx="100000" sy="100000" kx="0" ky="0" algn="bl" rotWithShape="0" blurRad="101600" dist="38100" dir="5400000">
              <a:srgbClr val="000000">
                <a:alpha val="18000"/>
              </a:srgbClr>
            </a:outerShdw>
          </a:effectLst>
        </p:spPr>
      </p:sp>
      <p:pic>
        <p:nvPicPr>
          <p:cNvPr id="6" name="Walk-in documents screenshot" descr="Walk-in documents screenshot">    </p:cNvPr>
          <p:cNvPicPr>
            <a:picLocks noChangeAspect="1"/>
          </p:cNvPicPr>
          <p:nvPr/>
        </p:nvPicPr>
        <p:blipFill>
          <a:blip r:embed="rId1"/>
          <a:stretch>
            <a:fillRect/>
          </a:stretch>
        </p:blipFill>
        <p:spPr>
          <a:xfrm>
            <a:off x="6044184" y="1563624"/>
            <a:ext cx="5541264" cy="3419856"/>
          </a:xfrm>
          <a:prstGeom prst="rect">
            <a:avLst/>
          </a:prstGeom>
        </p:spPr>
      </p:pic>
      <p:sp>
        <p:nvSpPr>
          <p:cNvPr id="7" name="Caption"/>
          <p:cNvSpPr txBox="1"/>
          <p:nvPr/>
        </p:nvSpPr>
        <p:spPr>
          <a:xfrm>
            <a:off x="5989320" y="5138928"/>
            <a:ext cx="5577840" cy="320040"/>
          </a:xfrm>
          <a:prstGeom prst="rect">
            <a:avLst/>
          </a:prstGeom>
          <a:noFill/>
          <a:ln/>
        </p:spPr>
        <p:txBody>
          <a:bodyPr wrap="square" lIns="0" tIns="0" rIns="0" bIns="0" rtlCol="0" anchor="ctr"/>
          <a:lstStyle/>
          <a:p>
            <a:pPr indent="0" marL="0">
              <a:buNone/>
            </a:pPr>
            <a:r>
              <a:rPr lang="en-US" sz="1200" i="1" dirty="0">
                <a:solidFill>
                  <a:schemeClr val="accent6"/>
                </a:solidFill>
              </a:rPr>
              <a:t>The registrar's documents step</a:t>
            </a:r>
            <a:endParaRPr lang="en-US" sz="1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1672" cy="86868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The cashier sees the whole account at the window</a:t>
            </a:r>
            <a:endParaRPr lang="en-US" sz="3200" dirty="0"/>
          </a:p>
        </p:txBody>
      </p:sp>
      <p:sp>
        <p:nvSpPr>
          <p:cNvPr id="4" name="Walk-in payments screenshot frame"/>
          <p:cNvSpPr/>
          <p:nvPr/>
        </p:nvSpPr>
        <p:spPr>
          <a:xfrm>
            <a:off x="548640" y="1508760"/>
            <a:ext cx="6126480" cy="3831336"/>
          </a:xfrm>
          <a:prstGeom prst="roundRect">
            <a:avLst>
              <a:gd name="adj" fmla="val 1909"/>
            </a:avLst>
          </a:prstGeom>
          <a:solidFill>
            <a:schemeClr val="bg1"/>
          </a:solidFill>
          <a:ln w="12700">
            <a:solidFill>
              <a:srgbClr val="EAF3FB"/>
            </a:solidFill>
            <a:prstDash val="solid"/>
          </a:ln>
          <a:effectLst>
            <a:outerShdw sx="100000" sy="100000" kx="0" ky="0" algn="bl" rotWithShape="0" blurRad="101600" dist="38100" dir="5400000">
              <a:srgbClr val="000000">
                <a:alpha val="18000"/>
              </a:srgbClr>
            </a:outerShdw>
          </a:effectLst>
        </p:spPr>
      </p:sp>
      <p:pic>
        <p:nvPicPr>
          <p:cNvPr id="5" name="Walk-in payments screenshot" descr="Walk-in payments screenshot">    </p:cNvPr>
          <p:cNvPicPr>
            <a:picLocks noChangeAspect="1"/>
          </p:cNvPicPr>
          <p:nvPr/>
        </p:nvPicPr>
        <p:blipFill>
          <a:blip r:embed="rId1"/>
          <a:stretch>
            <a:fillRect/>
          </a:stretch>
        </p:blipFill>
        <p:spPr>
          <a:xfrm>
            <a:off x="603504" y="1563624"/>
            <a:ext cx="6016752" cy="3721608"/>
          </a:xfrm>
          <a:prstGeom prst="rect">
            <a:avLst/>
          </a:prstGeom>
        </p:spPr>
      </p:pic>
      <p:sp>
        <p:nvSpPr>
          <p:cNvPr id="6" name="Caption"/>
          <p:cNvSpPr txBox="1"/>
          <p:nvPr/>
        </p:nvSpPr>
        <p:spPr>
          <a:xfrm>
            <a:off x="548640" y="5440680"/>
            <a:ext cx="6126480" cy="320040"/>
          </a:xfrm>
          <a:prstGeom prst="rect">
            <a:avLst/>
          </a:prstGeom>
          <a:noFill/>
          <a:ln/>
        </p:spPr>
        <p:txBody>
          <a:bodyPr wrap="square" lIns="0" tIns="0" rIns="0" bIns="0" rtlCol="0" anchor="ctr"/>
          <a:lstStyle/>
          <a:p>
            <a:pPr indent="0" marL="0">
              <a:buNone/>
            </a:pPr>
            <a:r>
              <a:rPr lang="en-US" sz="1200" i="1" dirty="0">
                <a:solidFill>
                  <a:schemeClr val="accent6"/>
                </a:solidFill>
              </a:rPr>
              <a:t>Walk-in payments: installments, and where each peso went</a:t>
            </a:r>
            <a:endParaRPr lang="en-US" sz="1200" dirty="0"/>
          </a:p>
        </p:txBody>
      </p:sp>
      <p:sp>
        <p:nvSpPr>
          <p:cNvPr id="7" name="Bullets"/>
          <p:cNvSpPr txBox="1"/>
          <p:nvPr/>
        </p:nvSpPr>
        <p:spPr>
          <a:xfrm>
            <a:off x="7086600" y="1645920"/>
            <a:ext cx="4553712" cy="4206240"/>
          </a:xfrm>
          <a:prstGeom prst="rect">
            <a:avLst/>
          </a:prstGeom>
          <a:noFill/>
          <a:ln/>
        </p:spPr>
        <p:txBody>
          <a:bodyPr wrap="square" lIns="0" tIns="0" rIns="0" bIns="0" rtlCol="0" anchor="t"/>
          <a:lstStyle/>
          <a:p>
            <a:pPr marL="228600" indent="-228600">
              <a:spcAft>
                <a:spcPts val="1400"/>
              </a:spcAft>
              <a:buSzPct val="100000"/>
              <a:buChar char="•"/>
            </a:pPr>
            <a:r>
              <a:rPr lang="en-US" sz="2000" dirty="0">
                <a:solidFill>
                  <a:schemeClr val="tx1"/>
                </a:solidFill>
                <a:latin typeface="Calibri" pitchFamily="34" charset="0"/>
                <a:ea typeface="Calibri" pitchFamily="34" charset="-122"/>
                <a:cs typeface="Calibri" pitchFamily="34" charset="-120"/>
              </a:rPr>
              <a:t>Installments and where each peso went, on one screen</a:t>
            </a:r>
            <a:endParaRPr lang="en-US" sz="2000" dirty="0"/>
          </a:p>
          <a:p>
            <a:pPr marL="228600" indent="-228600">
              <a:spcAft>
                <a:spcPts val="1400"/>
              </a:spcAft>
              <a:buSzPct val="100000"/>
              <a:buChar char="•"/>
            </a:pPr>
            <a:r>
              <a:rPr lang="en-US" sz="2000" dirty="0">
                <a:solidFill>
                  <a:schemeClr val="tx1"/>
                </a:solidFill>
                <a:latin typeface="Calibri" pitchFamily="34" charset="0"/>
                <a:ea typeface="Calibri" pitchFamily="34" charset="-122"/>
                <a:cs typeface="Calibri" pitchFamily="34" charset="-120"/>
              </a:rPr>
              <a:t>Quick buttons: next installment or full balance</a:t>
            </a:r>
            <a:endParaRPr lang="en-US" sz="2000" dirty="0"/>
          </a:p>
          <a:p>
            <a:pPr marL="228600" indent="-228600">
              <a:spcAft>
                <a:spcPts val="1400"/>
              </a:spcAft>
              <a:buSzPct val="100000"/>
              <a:buChar char="•"/>
            </a:pPr>
            <a:r>
              <a:rPr lang="en-US" sz="2000" dirty="0">
                <a:solidFill>
                  <a:schemeClr val="tx1"/>
                </a:solidFill>
                <a:latin typeface="Calibri" pitchFamily="34" charset="0"/>
                <a:ea typeface="Calibri" pitchFamily="34" charset="-122"/>
                <a:cs typeface="Calibri" pitchFamily="34" charset="-120"/>
              </a:rPr>
              <a:t>Numbered receipts. Payments are reversed, never deleted.</a:t>
            </a:r>
            <a:endParaRPr lang="en-US" sz="2000" dirty="0"/>
          </a:p>
          <a:p>
            <a:pPr marL="228600" indent="-228600">
              <a:spcAft>
                <a:spcPts val="1400"/>
              </a:spcAft>
              <a:buSzPct val="100000"/>
              <a:buChar char="•"/>
            </a:pPr>
            <a:r>
              <a:rPr lang="en-US" sz="2000" dirty="0">
                <a:solidFill>
                  <a:schemeClr val="tx1"/>
                </a:solidFill>
                <a:latin typeface="Calibri" pitchFamily="34" charset="0"/>
                <a:ea typeface="Calibri" pitchFamily="34" charset="-122"/>
                <a:cs typeface="Calibri" pitchFamily="34" charset="-120"/>
              </a:rPr>
              <a:t>Count the drawer, then close and lock the day</a:t>
            </a:r>
            <a:endParaRPr lang="en-US" sz="2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1672" cy="86868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The school's books, computed, not retyped</a:t>
            </a:r>
            <a:endParaRPr lang="en-US" sz="3200" dirty="0"/>
          </a:p>
        </p:txBody>
      </p:sp>
      <p:sp>
        <p:nvSpPr>
          <p:cNvPr id="4" name="Cash book screenshot frame"/>
          <p:cNvSpPr/>
          <p:nvPr/>
        </p:nvSpPr>
        <p:spPr>
          <a:xfrm>
            <a:off x="548640" y="1417320"/>
            <a:ext cx="6766560" cy="4023360"/>
          </a:xfrm>
          <a:prstGeom prst="roundRect">
            <a:avLst>
              <a:gd name="adj" fmla="val 1818"/>
            </a:avLst>
          </a:prstGeom>
          <a:solidFill>
            <a:schemeClr val="bg1"/>
          </a:solidFill>
          <a:ln w="12700">
            <a:solidFill>
              <a:srgbClr val="EAF3FB"/>
            </a:solidFill>
            <a:prstDash val="solid"/>
          </a:ln>
          <a:effectLst>
            <a:outerShdw sx="100000" sy="100000" kx="0" ky="0" algn="bl" rotWithShape="0" blurRad="101600" dist="38100" dir="5400000">
              <a:srgbClr val="000000">
                <a:alpha val="18000"/>
              </a:srgbClr>
            </a:outerShdw>
          </a:effectLst>
        </p:spPr>
      </p:sp>
      <p:pic>
        <p:nvPicPr>
          <p:cNvPr id="5" name="Cash book screenshot" descr="Cash book screenshot">    </p:cNvPr>
          <p:cNvPicPr>
            <a:picLocks noChangeAspect="1"/>
          </p:cNvPicPr>
          <p:nvPr/>
        </p:nvPicPr>
        <p:blipFill>
          <a:blip r:embed="rId1"/>
          <a:stretch>
            <a:fillRect/>
          </a:stretch>
        </p:blipFill>
        <p:spPr>
          <a:xfrm>
            <a:off x="603504" y="1472184"/>
            <a:ext cx="6656832" cy="3913632"/>
          </a:xfrm>
          <a:prstGeom prst="rect">
            <a:avLst/>
          </a:prstGeom>
        </p:spPr>
      </p:pic>
      <p:sp>
        <p:nvSpPr>
          <p:cNvPr id="6" name="Cash book caption"/>
          <p:cNvSpPr txBox="1"/>
          <p:nvPr/>
        </p:nvSpPr>
        <p:spPr>
          <a:xfrm>
            <a:off x="548640" y="5532120"/>
            <a:ext cx="6766560" cy="365760"/>
          </a:xfrm>
          <a:prstGeom prst="rect">
            <a:avLst/>
          </a:prstGeom>
          <a:noFill/>
          <a:ln/>
        </p:spPr>
        <p:txBody>
          <a:bodyPr wrap="square" lIns="0" tIns="0" rIns="0" bIns="0" rtlCol="0" anchor="ctr"/>
          <a:lstStyle/>
          <a:p>
            <a:pPr indent="0" marL="0">
              <a:buNone/>
            </a:pPr>
            <a:r>
              <a:rPr lang="en-US" sz="1500" b="1" dirty="0">
                <a:solidFill>
                  <a:srgbClr val="173F63"/>
                </a:solidFill>
              </a:rPr>
              <a:t>Cash book: </a:t>
            </a:r>
            <a:pPr indent="0" marL="0">
              <a:buNone/>
            </a:pPr>
            <a:r>
              <a:rPr lang="en-US" sz="1500" dirty="0">
                <a:solidFill>
                  <a:schemeClr val="tx1"/>
                </a:solidFill>
              </a:rPr>
              <a:t>cash in on the left, cash out on the right, balance carried forward</a:t>
            </a:r>
            <a:endParaRPr lang="en-US" sz="1500" dirty="0"/>
          </a:p>
        </p:txBody>
      </p:sp>
      <p:sp>
        <p:nvSpPr>
          <p:cNvPr id="7" name="Payment breakdown screenshot frame"/>
          <p:cNvSpPr/>
          <p:nvPr/>
        </p:nvSpPr>
        <p:spPr>
          <a:xfrm>
            <a:off x="7589520" y="1417320"/>
            <a:ext cx="4050792" cy="2532888"/>
          </a:xfrm>
          <a:prstGeom prst="roundRect">
            <a:avLst>
              <a:gd name="adj" fmla="val 2888"/>
            </a:avLst>
          </a:prstGeom>
          <a:solidFill>
            <a:schemeClr val="bg1"/>
          </a:solidFill>
          <a:ln w="12700">
            <a:solidFill>
              <a:srgbClr val="EAF3FB"/>
            </a:solidFill>
            <a:prstDash val="solid"/>
          </a:ln>
          <a:effectLst>
            <a:outerShdw sx="100000" sy="100000" kx="0" ky="0" algn="bl" rotWithShape="0" blurRad="101600" dist="38100" dir="5400000">
              <a:srgbClr val="000000">
                <a:alpha val="18000"/>
              </a:srgbClr>
            </a:outerShdw>
          </a:effectLst>
        </p:spPr>
      </p:sp>
      <p:pic>
        <p:nvPicPr>
          <p:cNvPr id="8" name="Payment breakdown screenshot" descr="Payment breakdown screenshot">    </p:cNvPr>
          <p:cNvPicPr>
            <a:picLocks noChangeAspect="1"/>
          </p:cNvPicPr>
          <p:nvPr/>
        </p:nvPicPr>
        <p:blipFill>
          <a:blip r:embed="rId2"/>
          <a:stretch>
            <a:fillRect/>
          </a:stretch>
        </p:blipFill>
        <p:spPr>
          <a:xfrm>
            <a:off x="7644384" y="1472184"/>
            <a:ext cx="3941064" cy="2423160"/>
          </a:xfrm>
          <a:prstGeom prst="rect">
            <a:avLst/>
          </a:prstGeom>
        </p:spPr>
      </p:pic>
      <p:sp>
        <p:nvSpPr>
          <p:cNvPr id="9" name="Text 4"/>
          <p:cNvSpPr txBox="1"/>
          <p:nvPr/>
        </p:nvSpPr>
        <p:spPr>
          <a:xfrm>
            <a:off x="7589520" y="4160520"/>
            <a:ext cx="4050792" cy="41148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Payment breakdown</a:t>
            </a:r>
            <a:endParaRPr lang="en-US" sz="2000" dirty="0"/>
          </a:p>
        </p:txBody>
      </p:sp>
      <p:sp>
        <p:nvSpPr>
          <p:cNvPr id="10" name="Text 5"/>
          <p:cNvSpPr txBox="1"/>
          <p:nvPr/>
        </p:nvSpPr>
        <p:spPr>
          <a:xfrm>
            <a:off x="7589520" y="4617720"/>
            <a:ext cx="4050792" cy="822960"/>
          </a:xfrm>
          <a:prstGeom prst="rect">
            <a:avLst/>
          </a:prstGeom>
          <a:noFill/>
          <a:ln/>
        </p:spPr>
        <p:txBody>
          <a:bodyPr wrap="square" lIns="0" tIns="0" rIns="0" bIns="0" rtlCol="0" anchor="t"/>
          <a:lstStyle/>
          <a:p>
            <a:pPr indent="0" marL="0">
              <a:buNone/>
            </a:pPr>
            <a:r>
              <a:rPr lang="en-US" sz="1500" dirty="0">
                <a:solidFill>
                  <a:schemeClr val="tx1"/>
                </a:solidFill>
              </a:rPr>
              <a:t>Where the money went: by fee line, by payment method, and by day</a:t>
            </a:r>
            <a:endParaRPr lang="en-US" sz="1500" dirty="0"/>
          </a:p>
        </p:txBody>
      </p:sp>
      <p:sp>
        <p:nvSpPr>
          <p:cNvPr id="11" name="Ledger note"/>
          <p:cNvSpPr txBox="1"/>
          <p:nvPr/>
        </p:nvSpPr>
        <p:spPr>
          <a:xfrm>
            <a:off x="548640" y="5989320"/>
            <a:ext cx="11091672" cy="365760"/>
          </a:xfrm>
          <a:prstGeom prst="rect">
            <a:avLst/>
          </a:prstGeom>
          <a:noFill/>
          <a:ln/>
        </p:spPr>
        <p:txBody>
          <a:bodyPr wrap="square" lIns="0" tIns="0" rIns="0" bIns="0" rtlCol="0" anchor="ctr"/>
          <a:lstStyle/>
          <a:p>
            <a:pPr indent="0" marL="0">
              <a:buNone/>
            </a:pPr>
            <a:r>
              <a:rPr lang="en-US" sz="1500" i="1" dirty="0">
                <a:solidFill>
                  <a:schemeClr val="accent1"/>
                </a:solidFill>
              </a:rPr>
              <a:t>The general ledger and trial balance are computed from the same records, so they always agree.</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1672" cy="86868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An e-ID anyone can verify by scanning</a:t>
            </a:r>
            <a:endParaRPr lang="en-US" sz="3200" dirty="0"/>
          </a:p>
        </p:txBody>
      </p:sp>
      <p:sp>
        <p:nvSpPr>
          <p:cNvPr id="4" name="E-ID card screenshot frame"/>
          <p:cNvSpPr/>
          <p:nvPr/>
        </p:nvSpPr>
        <p:spPr>
          <a:xfrm>
            <a:off x="548640" y="1508760"/>
            <a:ext cx="6949440" cy="2560320"/>
          </a:xfrm>
          <a:prstGeom prst="roundRect">
            <a:avLst>
              <a:gd name="adj" fmla="val 2857"/>
            </a:avLst>
          </a:prstGeom>
          <a:solidFill>
            <a:schemeClr val="bg1"/>
          </a:solidFill>
          <a:ln w="12700">
            <a:solidFill>
              <a:srgbClr val="EAF3FB"/>
            </a:solidFill>
            <a:prstDash val="solid"/>
          </a:ln>
          <a:effectLst>
            <a:outerShdw sx="100000" sy="100000" kx="0" ky="0" algn="bl" rotWithShape="0" blurRad="101600" dist="38100" dir="5400000">
              <a:srgbClr val="000000">
                <a:alpha val="18000"/>
              </a:srgbClr>
            </a:outerShdw>
          </a:effectLst>
        </p:spPr>
      </p:sp>
      <p:pic>
        <p:nvPicPr>
          <p:cNvPr id="5" name="E-ID card screenshot" descr="E-ID card screenshot">    </p:cNvPr>
          <p:cNvPicPr>
            <a:picLocks noChangeAspect="1"/>
          </p:cNvPicPr>
          <p:nvPr/>
        </p:nvPicPr>
        <p:blipFill>
          <a:blip r:embed="rId1"/>
          <a:stretch>
            <a:fillRect/>
          </a:stretch>
        </p:blipFill>
        <p:spPr>
          <a:xfrm>
            <a:off x="603504" y="1563624"/>
            <a:ext cx="6839712" cy="2450592"/>
          </a:xfrm>
          <a:prstGeom prst="rect">
            <a:avLst/>
          </a:prstGeom>
        </p:spPr>
      </p:pic>
      <p:sp>
        <p:nvSpPr>
          <p:cNvPr id="6" name="A random code, not the student number circle"/>
          <p:cNvSpPr/>
          <p:nvPr/>
        </p:nvSpPr>
        <p:spPr>
          <a:xfrm>
            <a:off x="548640" y="4343400"/>
            <a:ext cx="530352" cy="530352"/>
          </a:xfrm>
          <a:prstGeom prst="ellipse">
            <a:avLst/>
          </a:prstGeom>
          <a:solidFill>
            <a:schemeClr val="accent1"/>
          </a:solidFill>
          <a:ln/>
        </p:spPr>
      </p:sp>
      <p:pic>
        <p:nvPicPr>
          <p:cNvPr id="7" name="A random code, not the student number icon" descr="A random code, not the student number">    </p:cNvPr>
          <p:cNvPicPr>
            <a:picLocks noChangeAspect="1"/>
          </p:cNvPicPr>
          <p:nvPr/>
        </p:nvPicPr>
        <p:blipFill>
          <a:blip r:embed="rId2"/>
          <a:stretch>
            <a:fillRect/>
          </a:stretch>
        </p:blipFill>
        <p:spPr>
          <a:xfrm>
            <a:off x="691835" y="4486595"/>
            <a:ext cx="243962" cy="243962"/>
          </a:xfrm>
          <a:prstGeom prst="rect">
            <a:avLst/>
          </a:prstGeom>
        </p:spPr>
      </p:pic>
      <p:sp>
        <p:nvSpPr>
          <p:cNvPr id="8" name="Text 3"/>
          <p:cNvSpPr txBox="1"/>
          <p:nvPr/>
        </p:nvSpPr>
        <p:spPr>
          <a:xfrm>
            <a:off x="1280160" y="4297680"/>
            <a:ext cx="6217920" cy="621792"/>
          </a:xfrm>
          <a:prstGeom prst="rect">
            <a:avLst/>
          </a:prstGeom>
          <a:noFill/>
          <a:ln/>
        </p:spPr>
        <p:txBody>
          <a:bodyPr wrap="square" lIns="0" tIns="0" rIns="0" bIns="0" rtlCol="0" anchor="ctr"/>
          <a:lstStyle/>
          <a:p>
            <a:pPr indent="0" marL="0">
              <a:buNone/>
            </a:pPr>
            <a:r>
              <a:rPr lang="en-US" sz="1800" dirty="0">
                <a:solidFill>
                  <a:schemeClr val="tx1"/>
                </a:solidFill>
              </a:rPr>
              <a:t>A random code, not the student number</a:t>
            </a:r>
            <a:endParaRPr lang="en-US" sz="1800" dirty="0"/>
          </a:p>
        </p:txBody>
      </p:sp>
      <p:sp>
        <p:nvSpPr>
          <p:cNvPr id="9" name="A scan shows only photo, name, ID number, program circle"/>
          <p:cNvSpPr/>
          <p:nvPr/>
        </p:nvSpPr>
        <p:spPr>
          <a:xfrm>
            <a:off x="548640" y="5029200"/>
            <a:ext cx="530352" cy="530352"/>
          </a:xfrm>
          <a:prstGeom prst="ellipse">
            <a:avLst/>
          </a:prstGeom>
          <a:solidFill>
            <a:schemeClr val="accent1"/>
          </a:solidFill>
          <a:ln/>
        </p:spPr>
      </p:sp>
      <p:pic>
        <p:nvPicPr>
          <p:cNvPr id="10" name="A scan shows only photo, name, ID number, program icon" descr="A scan shows only photo, name, ID number, program">    </p:cNvPr>
          <p:cNvPicPr>
            <a:picLocks noChangeAspect="1"/>
          </p:cNvPicPr>
          <p:nvPr/>
        </p:nvPicPr>
        <p:blipFill>
          <a:blip r:embed="rId3"/>
          <a:stretch>
            <a:fillRect/>
          </a:stretch>
        </p:blipFill>
        <p:spPr>
          <a:xfrm>
            <a:off x="691835" y="5172395"/>
            <a:ext cx="243962" cy="243962"/>
          </a:xfrm>
          <a:prstGeom prst="rect">
            <a:avLst/>
          </a:prstGeom>
        </p:spPr>
      </p:pic>
      <p:sp>
        <p:nvSpPr>
          <p:cNvPr id="11" name="Text 5"/>
          <p:cNvSpPr txBox="1"/>
          <p:nvPr/>
        </p:nvSpPr>
        <p:spPr>
          <a:xfrm>
            <a:off x="1280160" y="4983480"/>
            <a:ext cx="6217920" cy="621792"/>
          </a:xfrm>
          <a:prstGeom prst="rect">
            <a:avLst/>
          </a:prstGeom>
          <a:noFill/>
          <a:ln/>
        </p:spPr>
        <p:txBody>
          <a:bodyPr wrap="square" lIns="0" tIns="0" rIns="0" bIns="0" rtlCol="0" anchor="ctr"/>
          <a:lstStyle/>
          <a:p>
            <a:pPr indent="0" marL="0">
              <a:buNone/>
            </a:pPr>
            <a:r>
              <a:rPr lang="en-US" sz="1800" dirty="0">
                <a:solidFill>
                  <a:schemeClr val="tx1"/>
                </a:solidFill>
              </a:rPr>
              <a:t>A scan shows only photo, name, ID number, program</a:t>
            </a:r>
            <a:endParaRPr lang="en-US" sz="1800" dirty="0"/>
          </a:p>
        </p:txBody>
      </p:sp>
      <p:sp>
        <p:nvSpPr>
          <p:cNvPr id="12" name="Lost card: reissue, and the old QR stops working circle"/>
          <p:cNvSpPr/>
          <p:nvPr/>
        </p:nvSpPr>
        <p:spPr>
          <a:xfrm>
            <a:off x="548640" y="5715000"/>
            <a:ext cx="530352" cy="530352"/>
          </a:xfrm>
          <a:prstGeom prst="ellipse">
            <a:avLst/>
          </a:prstGeom>
          <a:solidFill>
            <a:schemeClr val="accent1"/>
          </a:solidFill>
          <a:ln/>
        </p:spPr>
      </p:sp>
      <p:pic>
        <p:nvPicPr>
          <p:cNvPr id="13" name="Lost card: reissue, and the old QR stops working icon" descr="Lost card: reissue, and the old QR stops working">    </p:cNvPr>
          <p:cNvPicPr>
            <a:picLocks noChangeAspect="1"/>
          </p:cNvPicPr>
          <p:nvPr/>
        </p:nvPicPr>
        <p:blipFill>
          <a:blip r:embed="rId4"/>
          <a:stretch>
            <a:fillRect/>
          </a:stretch>
        </p:blipFill>
        <p:spPr>
          <a:xfrm>
            <a:off x="691835" y="5858195"/>
            <a:ext cx="243962" cy="243962"/>
          </a:xfrm>
          <a:prstGeom prst="rect">
            <a:avLst/>
          </a:prstGeom>
        </p:spPr>
      </p:pic>
      <p:sp>
        <p:nvSpPr>
          <p:cNvPr id="14" name="Text 7"/>
          <p:cNvSpPr txBox="1"/>
          <p:nvPr/>
        </p:nvSpPr>
        <p:spPr>
          <a:xfrm>
            <a:off x="1280160" y="5669280"/>
            <a:ext cx="6217920" cy="621792"/>
          </a:xfrm>
          <a:prstGeom prst="rect">
            <a:avLst/>
          </a:prstGeom>
          <a:noFill/>
          <a:ln/>
        </p:spPr>
        <p:txBody>
          <a:bodyPr wrap="square" lIns="0" tIns="0" rIns="0" bIns="0" rtlCol="0" anchor="ctr"/>
          <a:lstStyle/>
          <a:p>
            <a:pPr indent="0" marL="0">
              <a:buNone/>
            </a:pPr>
            <a:r>
              <a:rPr lang="en-US" sz="1800" dirty="0">
                <a:solidFill>
                  <a:schemeClr val="tx1"/>
                </a:solidFill>
              </a:rPr>
              <a:t>Lost card: reissue, and the old QR stops working</a:t>
            </a:r>
            <a:endParaRPr lang="en-US" sz="1800" dirty="0"/>
          </a:p>
        </p:txBody>
      </p:sp>
      <p:sp>
        <p:nvSpPr>
          <p:cNvPr id="15" name="Verification page screenshot frame"/>
          <p:cNvSpPr/>
          <p:nvPr/>
        </p:nvSpPr>
        <p:spPr>
          <a:xfrm>
            <a:off x="8229600" y="1371600"/>
            <a:ext cx="3410712" cy="4370832"/>
          </a:xfrm>
          <a:prstGeom prst="roundRect">
            <a:avLst>
              <a:gd name="adj" fmla="val 2145"/>
            </a:avLst>
          </a:prstGeom>
          <a:solidFill>
            <a:schemeClr val="bg1"/>
          </a:solidFill>
          <a:ln w="12700">
            <a:solidFill>
              <a:srgbClr val="EAF3FB"/>
            </a:solidFill>
            <a:prstDash val="solid"/>
          </a:ln>
          <a:effectLst>
            <a:outerShdw sx="100000" sy="100000" kx="0" ky="0" algn="bl" rotWithShape="0" blurRad="101600" dist="38100" dir="5400000">
              <a:srgbClr val="000000">
                <a:alpha val="18000"/>
              </a:srgbClr>
            </a:outerShdw>
          </a:effectLst>
        </p:spPr>
      </p:sp>
      <p:pic>
        <p:nvPicPr>
          <p:cNvPr id="16" name="Verification page screenshot" descr="Verification page screenshot">    </p:cNvPr>
          <p:cNvPicPr>
            <a:picLocks noChangeAspect="1"/>
          </p:cNvPicPr>
          <p:nvPr/>
        </p:nvPicPr>
        <p:blipFill>
          <a:blip r:embed="rId5"/>
          <a:stretch>
            <a:fillRect/>
          </a:stretch>
        </p:blipFill>
        <p:spPr>
          <a:xfrm>
            <a:off x="8284464" y="1426464"/>
            <a:ext cx="3300984" cy="4261104"/>
          </a:xfrm>
          <a:prstGeom prst="rect">
            <a:avLst/>
          </a:prstGeom>
        </p:spPr>
      </p:pic>
      <p:sp>
        <p:nvSpPr>
          <p:cNvPr id="17" name="Caption"/>
          <p:cNvSpPr txBox="1"/>
          <p:nvPr/>
        </p:nvSpPr>
        <p:spPr>
          <a:xfrm>
            <a:off x="8229600" y="5852160"/>
            <a:ext cx="3383280" cy="320040"/>
          </a:xfrm>
          <a:prstGeom prst="rect">
            <a:avLst/>
          </a:prstGeom>
          <a:noFill/>
          <a:ln/>
        </p:spPr>
        <p:txBody>
          <a:bodyPr wrap="square" lIns="0" tIns="0" rIns="0" bIns="0" rtlCol="0" anchor="ctr"/>
          <a:lstStyle/>
          <a:p>
            <a:pPr indent="0" marL="0">
              <a:buNone/>
            </a:pPr>
            <a:r>
              <a:rPr lang="en-US" sz="1200" i="1" dirty="0">
                <a:solidFill>
                  <a:schemeClr val="accent6"/>
                </a:solidFill>
              </a:rPr>
              <a:t>What a scan shows</a:t>
            </a:r>
            <a:endParaRPr lang="en-US" sz="1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1672" cy="86868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Security and privacy are built in</a:t>
            </a:r>
            <a:endParaRPr lang="en-US" sz="3200" dirty="0"/>
          </a:p>
        </p:txBody>
      </p:sp>
      <p:sp>
        <p:nvSpPr>
          <p:cNvPr id="4" name="Role-based access tile"/>
          <p:cNvSpPr/>
          <p:nvPr/>
        </p:nvSpPr>
        <p:spPr>
          <a:xfrm>
            <a:off x="548640" y="1554480"/>
            <a:ext cx="3538728" cy="2103120"/>
          </a:xfrm>
          <a:prstGeom prst="roundRect">
            <a:avLst>
              <a:gd name="adj" fmla="val 5217"/>
            </a:avLst>
          </a:prstGeom>
          <a:solidFill>
            <a:schemeClr val="bg2"/>
          </a:solidFill>
          <a:ln/>
        </p:spPr>
      </p:sp>
      <p:sp>
        <p:nvSpPr>
          <p:cNvPr id="5" name="Role-based access circle"/>
          <p:cNvSpPr/>
          <p:nvPr/>
        </p:nvSpPr>
        <p:spPr>
          <a:xfrm>
            <a:off x="822960" y="1810512"/>
            <a:ext cx="658368" cy="658368"/>
          </a:xfrm>
          <a:prstGeom prst="ellipse">
            <a:avLst/>
          </a:prstGeom>
          <a:solidFill>
            <a:schemeClr val="accent1"/>
          </a:solidFill>
          <a:ln/>
        </p:spPr>
      </p:sp>
      <p:pic>
        <p:nvPicPr>
          <p:cNvPr id="6" name="Role-based access icon" descr="Role-based access">    </p:cNvPr>
          <p:cNvPicPr>
            <a:picLocks noChangeAspect="1"/>
          </p:cNvPicPr>
          <p:nvPr/>
        </p:nvPicPr>
        <p:blipFill>
          <a:blip r:embed="rId1"/>
          <a:stretch>
            <a:fillRect/>
          </a:stretch>
        </p:blipFill>
        <p:spPr>
          <a:xfrm>
            <a:off x="1000719" y="1988271"/>
            <a:ext cx="302849" cy="302849"/>
          </a:xfrm>
          <a:prstGeom prst="rect">
            <a:avLst/>
          </a:prstGeom>
        </p:spPr>
      </p:pic>
      <p:sp>
        <p:nvSpPr>
          <p:cNvPr id="7" name="Text 3"/>
          <p:cNvSpPr txBox="1"/>
          <p:nvPr/>
        </p:nvSpPr>
        <p:spPr>
          <a:xfrm>
            <a:off x="1645920" y="1810512"/>
            <a:ext cx="2286000" cy="658368"/>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Role-based access</a:t>
            </a:r>
            <a:endParaRPr lang="en-US" sz="1800" dirty="0"/>
          </a:p>
        </p:txBody>
      </p:sp>
      <p:sp>
        <p:nvSpPr>
          <p:cNvPr id="8" name="Text 4"/>
          <p:cNvSpPr txBox="1"/>
          <p:nvPr/>
        </p:nvSpPr>
        <p:spPr>
          <a:xfrm>
            <a:off x="822960" y="2651760"/>
            <a:ext cx="3017520" cy="868680"/>
          </a:xfrm>
          <a:prstGeom prst="rect">
            <a:avLst/>
          </a:prstGeom>
          <a:noFill/>
          <a:ln/>
        </p:spPr>
        <p:txBody>
          <a:bodyPr wrap="square" lIns="0" tIns="0" rIns="0" bIns="0" rtlCol="0" anchor="t"/>
          <a:lstStyle/>
          <a:p>
            <a:pPr indent="0" marL="0">
              <a:buNone/>
            </a:pPr>
            <a:r>
              <a:rPr lang="en-US" sz="1500" dirty="0">
                <a:solidFill>
                  <a:schemeClr val="tx1"/>
                </a:solidFill>
              </a:rPr>
              <a:t>Checked on every page, not only in the menu</a:t>
            </a:r>
            <a:endParaRPr lang="en-US" sz="1500" dirty="0"/>
          </a:p>
        </p:txBody>
      </p:sp>
      <p:sp>
        <p:nvSpPr>
          <p:cNvPr id="9" name="Audit trail tile"/>
          <p:cNvSpPr/>
          <p:nvPr/>
        </p:nvSpPr>
        <p:spPr>
          <a:xfrm>
            <a:off x="4270248" y="1554480"/>
            <a:ext cx="3538728" cy="2103120"/>
          </a:xfrm>
          <a:prstGeom prst="roundRect">
            <a:avLst>
              <a:gd name="adj" fmla="val 5217"/>
            </a:avLst>
          </a:prstGeom>
          <a:solidFill>
            <a:schemeClr val="bg2"/>
          </a:solidFill>
          <a:ln/>
        </p:spPr>
      </p:sp>
      <p:sp>
        <p:nvSpPr>
          <p:cNvPr id="10" name="Audit trail circle"/>
          <p:cNvSpPr/>
          <p:nvPr/>
        </p:nvSpPr>
        <p:spPr>
          <a:xfrm>
            <a:off x="4544568" y="1810512"/>
            <a:ext cx="658368" cy="658368"/>
          </a:xfrm>
          <a:prstGeom prst="ellipse">
            <a:avLst/>
          </a:prstGeom>
          <a:solidFill>
            <a:schemeClr val="accent1"/>
          </a:solidFill>
          <a:ln/>
        </p:spPr>
      </p:sp>
      <p:pic>
        <p:nvPicPr>
          <p:cNvPr id="11" name="Audit trail icon" descr="Audit trail">    </p:cNvPr>
          <p:cNvPicPr>
            <a:picLocks noChangeAspect="1"/>
          </p:cNvPicPr>
          <p:nvPr/>
        </p:nvPicPr>
        <p:blipFill>
          <a:blip r:embed="rId2"/>
          <a:stretch>
            <a:fillRect/>
          </a:stretch>
        </p:blipFill>
        <p:spPr>
          <a:xfrm>
            <a:off x="4722327" y="1988271"/>
            <a:ext cx="302849" cy="302849"/>
          </a:xfrm>
          <a:prstGeom prst="rect">
            <a:avLst/>
          </a:prstGeom>
        </p:spPr>
      </p:pic>
      <p:sp>
        <p:nvSpPr>
          <p:cNvPr id="12" name="Text 7"/>
          <p:cNvSpPr txBox="1"/>
          <p:nvPr/>
        </p:nvSpPr>
        <p:spPr>
          <a:xfrm>
            <a:off x="5367528" y="1810512"/>
            <a:ext cx="2286000" cy="658368"/>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Audit trail</a:t>
            </a:r>
            <a:endParaRPr lang="en-US" sz="1800" dirty="0"/>
          </a:p>
        </p:txBody>
      </p:sp>
      <p:sp>
        <p:nvSpPr>
          <p:cNvPr id="13" name="Text 8"/>
          <p:cNvSpPr txBox="1"/>
          <p:nvPr/>
        </p:nvSpPr>
        <p:spPr>
          <a:xfrm>
            <a:off x="4544568" y="2651760"/>
            <a:ext cx="3017520" cy="868680"/>
          </a:xfrm>
          <a:prstGeom prst="rect">
            <a:avLst/>
          </a:prstGeom>
          <a:noFill/>
          <a:ln/>
        </p:spPr>
        <p:txBody>
          <a:bodyPr wrap="square" lIns="0" tIns="0" rIns="0" bIns="0" rtlCol="0" anchor="t"/>
          <a:lstStyle/>
          <a:p>
            <a:pPr indent="0" marL="0">
              <a:buNone/>
            </a:pPr>
            <a:r>
              <a:rPr lang="en-US" sz="1500" dirty="0">
                <a:solidFill>
                  <a:schemeClr val="tx1"/>
                </a:solidFill>
              </a:rPr>
              <a:t>Every important action is recorded and cannot be edited</a:t>
            </a:r>
            <a:endParaRPr lang="en-US" sz="1500" dirty="0"/>
          </a:p>
        </p:txBody>
      </p:sp>
      <p:sp>
        <p:nvSpPr>
          <p:cNvPr id="14" name="Private files tile"/>
          <p:cNvSpPr/>
          <p:nvPr/>
        </p:nvSpPr>
        <p:spPr>
          <a:xfrm>
            <a:off x="7991856" y="1554480"/>
            <a:ext cx="3538728" cy="2103120"/>
          </a:xfrm>
          <a:prstGeom prst="roundRect">
            <a:avLst>
              <a:gd name="adj" fmla="val 5217"/>
            </a:avLst>
          </a:prstGeom>
          <a:solidFill>
            <a:schemeClr val="bg2"/>
          </a:solidFill>
          <a:ln/>
        </p:spPr>
      </p:sp>
      <p:sp>
        <p:nvSpPr>
          <p:cNvPr id="15" name="Private files circle"/>
          <p:cNvSpPr/>
          <p:nvPr/>
        </p:nvSpPr>
        <p:spPr>
          <a:xfrm>
            <a:off x="8266176" y="1810512"/>
            <a:ext cx="658368" cy="658368"/>
          </a:xfrm>
          <a:prstGeom prst="ellipse">
            <a:avLst/>
          </a:prstGeom>
          <a:solidFill>
            <a:schemeClr val="accent1"/>
          </a:solidFill>
          <a:ln/>
        </p:spPr>
      </p:sp>
      <p:pic>
        <p:nvPicPr>
          <p:cNvPr id="16" name="Private files icon" descr="Private files">    </p:cNvPr>
          <p:cNvPicPr>
            <a:picLocks noChangeAspect="1"/>
          </p:cNvPicPr>
          <p:nvPr/>
        </p:nvPicPr>
        <p:blipFill>
          <a:blip r:embed="rId3"/>
          <a:stretch>
            <a:fillRect/>
          </a:stretch>
        </p:blipFill>
        <p:spPr>
          <a:xfrm>
            <a:off x="8443935" y="1988271"/>
            <a:ext cx="302849" cy="302849"/>
          </a:xfrm>
          <a:prstGeom prst="rect">
            <a:avLst/>
          </a:prstGeom>
        </p:spPr>
      </p:pic>
      <p:sp>
        <p:nvSpPr>
          <p:cNvPr id="17" name="Text 11"/>
          <p:cNvSpPr txBox="1"/>
          <p:nvPr/>
        </p:nvSpPr>
        <p:spPr>
          <a:xfrm>
            <a:off x="9089136" y="1810512"/>
            <a:ext cx="2286000" cy="658368"/>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Private files</a:t>
            </a:r>
            <a:endParaRPr lang="en-US" sz="1800" dirty="0"/>
          </a:p>
        </p:txBody>
      </p:sp>
      <p:sp>
        <p:nvSpPr>
          <p:cNvPr id="18" name="Text 12"/>
          <p:cNvSpPr txBox="1"/>
          <p:nvPr/>
        </p:nvSpPr>
        <p:spPr>
          <a:xfrm>
            <a:off x="8266176" y="2651760"/>
            <a:ext cx="3017520" cy="868680"/>
          </a:xfrm>
          <a:prstGeom prst="rect">
            <a:avLst/>
          </a:prstGeom>
          <a:noFill/>
          <a:ln/>
        </p:spPr>
        <p:txBody>
          <a:bodyPr wrap="square" lIns="0" tIns="0" rIns="0" bIns="0" rtlCol="0" anchor="t"/>
          <a:lstStyle/>
          <a:p>
            <a:pPr indent="0" marL="0">
              <a:buNone/>
            </a:pPr>
            <a:r>
              <a:rPr lang="en-US" sz="1500" dirty="0">
                <a:solidFill>
                  <a:schemeClr val="tx1"/>
                </a:solidFill>
              </a:rPr>
              <a:t>Uploads are never public; only allowed people see them</a:t>
            </a:r>
            <a:endParaRPr lang="en-US" sz="1500" dirty="0"/>
          </a:p>
        </p:txBody>
      </p:sp>
      <p:sp>
        <p:nvSpPr>
          <p:cNvPr id="19" name="Safe forms tile"/>
          <p:cNvSpPr/>
          <p:nvPr/>
        </p:nvSpPr>
        <p:spPr>
          <a:xfrm>
            <a:off x="548640" y="3886200"/>
            <a:ext cx="3538728" cy="2103120"/>
          </a:xfrm>
          <a:prstGeom prst="roundRect">
            <a:avLst>
              <a:gd name="adj" fmla="val 5217"/>
            </a:avLst>
          </a:prstGeom>
          <a:solidFill>
            <a:schemeClr val="bg2"/>
          </a:solidFill>
          <a:ln/>
        </p:spPr>
      </p:sp>
      <p:sp>
        <p:nvSpPr>
          <p:cNvPr id="20" name="Safe forms circle"/>
          <p:cNvSpPr/>
          <p:nvPr/>
        </p:nvSpPr>
        <p:spPr>
          <a:xfrm>
            <a:off x="822960" y="4142232"/>
            <a:ext cx="658368" cy="658368"/>
          </a:xfrm>
          <a:prstGeom prst="ellipse">
            <a:avLst/>
          </a:prstGeom>
          <a:solidFill>
            <a:schemeClr val="accent1"/>
          </a:solidFill>
          <a:ln/>
        </p:spPr>
      </p:sp>
      <p:pic>
        <p:nvPicPr>
          <p:cNvPr id="21" name="Safe forms icon" descr="Safe forms">    </p:cNvPr>
          <p:cNvPicPr>
            <a:picLocks noChangeAspect="1"/>
          </p:cNvPicPr>
          <p:nvPr/>
        </p:nvPicPr>
        <p:blipFill>
          <a:blip r:embed="rId4"/>
          <a:stretch>
            <a:fillRect/>
          </a:stretch>
        </p:blipFill>
        <p:spPr>
          <a:xfrm>
            <a:off x="1000719" y="4319991"/>
            <a:ext cx="302849" cy="302849"/>
          </a:xfrm>
          <a:prstGeom prst="rect">
            <a:avLst/>
          </a:prstGeom>
        </p:spPr>
      </p:pic>
      <p:sp>
        <p:nvSpPr>
          <p:cNvPr id="22" name="Text 15"/>
          <p:cNvSpPr txBox="1"/>
          <p:nvPr/>
        </p:nvSpPr>
        <p:spPr>
          <a:xfrm>
            <a:off x="1645920" y="4142232"/>
            <a:ext cx="2286000" cy="658368"/>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Safe forms</a:t>
            </a:r>
            <a:endParaRPr lang="en-US" sz="1800" dirty="0"/>
          </a:p>
        </p:txBody>
      </p:sp>
      <p:sp>
        <p:nvSpPr>
          <p:cNvPr id="23" name="Text 16"/>
          <p:cNvSpPr txBox="1"/>
          <p:nvPr/>
        </p:nvSpPr>
        <p:spPr>
          <a:xfrm>
            <a:off x="822960" y="4983480"/>
            <a:ext cx="3017520" cy="868680"/>
          </a:xfrm>
          <a:prstGeom prst="rect">
            <a:avLst/>
          </a:prstGeom>
          <a:noFill/>
          <a:ln/>
        </p:spPr>
        <p:txBody>
          <a:bodyPr wrap="square" lIns="0" tIns="0" rIns="0" bIns="0" rtlCol="0" anchor="t"/>
          <a:lstStyle/>
          <a:p>
            <a:pPr indent="0" marL="0">
              <a:buNone/>
            </a:pPr>
            <a:r>
              <a:rPr lang="en-US" sz="1500" dirty="0">
                <a:solidFill>
                  <a:schemeClr val="tx1"/>
                </a:solidFill>
              </a:rPr>
              <a:t>Forgery and injection attacks are tested for</a:t>
            </a:r>
            <a:endParaRPr lang="en-US" sz="1500" dirty="0"/>
          </a:p>
        </p:txBody>
      </p:sp>
      <p:sp>
        <p:nvSpPr>
          <p:cNvPr id="24" name="Strong sign-in tile"/>
          <p:cNvSpPr/>
          <p:nvPr/>
        </p:nvSpPr>
        <p:spPr>
          <a:xfrm>
            <a:off x="4270248" y="3886200"/>
            <a:ext cx="3538728" cy="2103120"/>
          </a:xfrm>
          <a:prstGeom prst="roundRect">
            <a:avLst>
              <a:gd name="adj" fmla="val 5217"/>
            </a:avLst>
          </a:prstGeom>
          <a:solidFill>
            <a:schemeClr val="bg2"/>
          </a:solidFill>
          <a:ln/>
        </p:spPr>
      </p:sp>
      <p:sp>
        <p:nvSpPr>
          <p:cNvPr id="25" name="Strong sign-in circle"/>
          <p:cNvSpPr/>
          <p:nvPr/>
        </p:nvSpPr>
        <p:spPr>
          <a:xfrm>
            <a:off x="4544568" y="4142232"/>
            <a:ext cx="658368" cy="658368"/>
          </a:xfrm>
          <a:prstGeom prst="ellipse">
            <a:avLst/>
          </a:prstGeom>
          <a:solidFill>
            <a:schemeClr val="accent1"/>
          </a:solidFill>
          <a:ln/>
        </p:spPr>
      </p:sp>
      <p:pic>
        <p:nvPicPr>
          <p:cNvPr id="26" name="Strong sign-in icon" descr="Strong sign-in">    </p:cNvPr>
          <p:cNvPicPr>
            <a:picLocks noChangeAspect="1"/>
          </p:cNvPicPr>
          <p:nvPr/>
        </p:nvPicPr>
        <p:blipFill>
          <a:blip r:embed="rId5"/>
          <a:stretch>
            <a:fillRect/>
          </a:stretch>
        </p:blipFill>
        <p:spPr>
          <a:xfrm>
            <a:off x="4722327" y="4319991"/>
            <a:ext cx="302849" cy="302849"/>
          </a:xfrm>
          <a:prstGeom prst="rect">
            <a:avLst/>
          </a:prstGeom>
        </p:spPr>
      </p:pic>
      <p:sp>
        <p:nvSpPr>
          <p:cNvPr id="27" name="Text 19"/>
          <p:cNvSpPr txBox="1"/>
          <p:nvPr/>
        </p:nvSpPr>
        <p:spPr>
          <a:xfrm>
            <a:off x="5367528" y="4142232"/>
            <a:ext cx="2286000" cy="658368"/>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Strong sign-in</a:t>
            </a:r>
            <a:endParaRPr lang="en-US" sz="1800" dirty="0"/>
          </a:p>
        </p:txBody>
      </p:sp>
      <p:sp>
        <p:nvSpPr>
          <p:cNvPr id="28" name="Text 20"/>
          <p:cNvSpPr txBox="1"/>
          <p:nvPr/>
        </p:nvSpPr>
        <p:spPr>
          <a:xfrm>
            <a:off x="4544568" y="4983480"/>
            <a:ext cx="3017520" cy="868680"/>
          </a:xfrm>
          <a:prstGeom prst="rect">
            <a:avLst/>
          </a:prstGeom>
          <a:noFill/>
          <a:ln/>
        </p:spPr>
        <p:txBody>
          <a:bodyPr wrap="square" lIns="0" tIns="0" rIns="0" bIns="0" rtlCol="0" anchor="t"/>
          <a:lstStyle/>
          <a:p>
            <a:pPr indent="0" marL="0">
              <a:buNone/>
            </a:pPr>
            <a:r>
              <a:rPr lang="en-US" sz="1500" dirty="0">
                <a:solidFill>
                  <a:schemeClr val="tx1"/>
                </a:solidFill>
              </a:rPr>
              <a:t>Hashed passwords, lockout, idle timeout, one-time links</a:t>
            </a:r>
            <a:endParaRPr lang="en-US" sz="1500" dirty="0"/>
          </a:p>
        </p:txBody>
      </p:sp>
      <p:sp>
        <p:nvSpPr>
          <p:cNvPr id="29" name="Data privacy tile"/>
          <p:cNvSpPr/>
          <p:nvPr/>
        </p:nvSpPr>
        <p:spPr>
          <a:xfrm>
            <a:off x="7991856" y="3886200"/>
            <a:ext cx="3538728" cy="2103120"/>
          </a:xfrm>
          <a:prstGeom prst="roundRect">
            <a:avLst>
              <a:gd name="adj" fmla="val 5217"/>
            </a:avLst>
          </a:prstGeom>
          <a:solidFill>
            <a:schemeClr val="bg2"/>
          </a:solidFill>
          <a:ln/>
        </p:spPr>
      </p:sp>
      <p:sp>
        <p:nvSpPr>
          <p:cNvPr id="30" name="Data privacy circle"/>
          <p:cNvSpPr/>
          <p:nvPr/>
        </p:nvSpPr>
        <p:spPr>
          <a:xfrm>
            <a:off x="8266176" y="4142232"/>
            <a:ext cx="658368" cy="658368"/>
          </a:xfrm>
          <a:prstGeom prst="ellipse">
            <a:avLst/>
          </a:prstGeom>
          <a:solidFill>
            <a:schemeClr val="accent1"/>
          </a:solidFill>
          <a:ln/>
        </p:spPr>
      </p:sp>
      <p:pic>
        <p:nvPicPr>
          <p:cNvPr id="31" name="Data privacy icon" descr="Data privacy">    </p:cNvPr>
          <p:cNvPicPr>
            <a:picLocks noChangeAspect="1"/>
          </p:cNvPicPr>
          <p:nvPr/>
        </p:nvPicPr>
        <p:blipFill>
          <a:blip r:embed="rId6"/>
          <a:stretch>
            <a:fillRect/>
          </a:stretch>
        </p:blipFill>
        <p:spPr>
          <a:xfrm>
            <a:off x="8443935" y="4319991"/>
            <a:ext cx="302849" cy="302849"/>
          </a:xfrm>
          <a:prstGeom prst="rect">
            <a:avLst/>
          </a:prstGeom>
        </p:spPr>
      </p:pic>
      <p:sp>
        <p:nvSpPr>
          <p:cNvPr id="32" name="Text 23"/>
          <p:cNvSpPr txBox="1"/>
          <p:nvPr/>
        </p:nvSpPr>
        <p:spPr>
          <a:xfrm>
            <a:off x="9089136" y="4142232"/>
            <a:ext cx="2286000" cy="658368"/>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Data privacy</a:t>
            </a:r>
            <a:endParaRPr lang="en-US" sz="1800" dirty="0"/>
          </a:p>
        </p:txBody>
      </p:sp>
      <p:sp>
        <p:nvSpPr>
          <p:cNvPr id="33" name="Text 24"/>
          <p:cNvSpPr txBox="1"/>
          <p:nvPr/>
        </p:nvSpPr>
        <p:spPr>
          <a:xfrm>
            <a:off x="8266176" y="4983480"/>
            <a:ext cx="3017520" cy="868680"/>
          </a:xfrm>
          <a:prstGeom prst="rect">
            <a:avLst/>
          </a:prstGeom>
          <a:noFill/>
          <a:ln/>
        </p:spPr>
        <p:txBody>
          <a:bodyPr wrap="square" lIns="0" tIns="0" rIns="0" bIns="0" rtlCol="0" anchor="t"/>
          <a:lstStyle/>
          <a:p>
            <a:pPr indent="0" marL="0">
              <a:buNone/>
            </a:pPr>
            <a:r>
              <a:rPr lang="en-US" sz="1500" dirty="0">
                <a:solidFill>
                  <a:schemeClr val="tx1"/>
                </a:solidFill>
              </a:rPr>
              <a:t>RA 10173: consent recorded; only the minimum on the public ID check</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B"/>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1672" cy="86868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Built and tested like a real system</a:t>
            </a:r>
            <a:endParaRPr lang="en-US" sz="3200" dirty="0"/>
          </a:p>
        </p:txBody>
      </p:sp>
      <p:sp>
        <p:nvSpPr>
          <p:cNvPr id="4" name="Stat card 1"/>
          <p:cNvSpPr/>
          <p:nvPr/>
        </p:nvSpPr>
        <p:spPr>
          <a:xfrm>
            <a:off x="548640" y="1737360"/>
            <a:ext cx="2103120" cy="2651760"/>
          </a:xfrm>
          <a:prstGeom prst="roundRect">
            <a:avLst>
              <a:gd name="adj" fmla="val 5217"/>
            </a:avLst>
          </a:prstGeom>
          <a:solidFill>
            <a:schemeClr val="bg2"/>
          </a:solidFill>
          <a:ln/>
        </p:spPr>
      </p:sp>
      <p:sp>
        <p:nvSpPr>
          <p:cNvPr id="5" name="Stat 1"/>
          <p:cNvSpPr txBox="1"/>
          <p:nvPr/>
        </p:nvSpPr>
        <p:spPr>
          <a:xfrm>
            <a:off x="548640" y="2057400"/>
            <a:ext cx="2103120" cy="1097280"/>
          </a:xfrm>
          <a:prstGeom prst="rect">
            <a:avLst/>
          </a:prstGeom>
          <a:noFill/>
          <a:ln/>
        </p:spPr>
        <p:txBody>
          <a:bodyPr wrap="square" lIns="0" tIns="0" rIns="0" bIns="0" rtlCol="0" anchor="ctr"/>
          <a:lstStyle/>
          <a:p>
            <a:pPr algn="ctr" indent="0" marL="0">
              <a:buNone/>
            </a:pPr>
            <a:r>
              <a:rPr lang="en-US" sz="5200" b="1" dirty="0">
                <a:solidFill>
                  <a:schemeClr val="accent1"/>
                </a:solidFill>
                <a:latin typeface="Cambria" pitchFamily="34" charset="0"/>
                <a:ea typeface="Cambria" pitchFamily="34" charset="-122"/>
                <a:cs typeface="Cambria" pitchFamily="34" charset="-120"/>
              </a:rPr>
              <a:t>399</a:t>
            </a:r>
            <a:endParaRPr lang="en-US" sz="5200" dirty="0"/>
          </a:p>
        </p:txBody>
      </p:sp>
      <p:sp>
        <p:nvSpPr>
          <p:cNvPr id="6" name="Text 3"/>
          <p:cNvSpPr txBox="1"/>
          <p:nvPr/>
        </p:nvSpPr>
        <p:spPr>
          <a:xfrm>
            <a:off x="685800" y="3200400"/>
            <a:ext cx="1828800" cy="914400"/>
          </a:xfrm>
          <a:prstGeom prst="rect">
            <a:avLst/>
          </a:prstGeom>
          <a:noFill/>
          <a:ln/>
        </p:spPr>
        <p:txBody>
          <a:bodyPr wrap="square" lIns="0" tIns="0" rIns="0" bIns="0" rtlCol="0" anchor="t"/>
          <a:lstStyle/>
          <a:p>
            <a:pPr algn="ctr" indent="0" marL="0">
              <a:buNone/>
            </a:pPr>
            <a:r>
              <a:rPr lang="en-US" sz="1700" dirty="0">
                <a:solidFill>
                  <a:schemeClr val="tx1"/>
                </a:solidFill>
              </a:rPr>
              <a:t>automated tests</a:t>
            </a:r>
            <a:endParaRPr lang="en-US" sz="1700" dirty="0"/>
          </a:p>
        </p:txBody>
      </p:sp>
      <p:sp>
        <p:nvSpPr>
          <p:cNvPr id="7" name="Stat card 2"/>
          <p:cNvSpPr/>
          <p:nvPr/>
        </p:nvSpPr>
        <p:spPr>
          <a:xfrm>
            <a:off x="2788920" y="1737360"/>
            <a:ext cx="2103120" cy="2651760"/>
          </a:xfrm>
          <a:prstGeom prst="roundRect">
            <a:avLst>
              <a:gd name="adj" fmla="val 5217"/>
            </a:avLst>
          </a:prstGeom>
          <a:solidFill>
            <a:schemeClr val="bg2"/>
          </a:solidFill>
          <a:ln/>
        </p:spPr>
      </p:sp>
      <p:sp>
        <p:nvSpPr>
          <p:cNvPr id="8" name="Stat 2"/>
          <p:cNvSpPr txBox="1"/>
          <p:nvPr/>
        </p:nvSpPr>
        <p:spPr>
          <a:xfrm>
            <a:off x="2788920" y="2057400"/>
            <a:ext cx="2103120" cy="1097280"/>
          </a:xfrm>
          <a:prstGeom prst="rect">
            <a:avLst/>
          </a:prstGeom>
          <a:noFill/>
          <a:ln/>
        </p:spPr>
        <p:txBody>
          <a:bodyPr wrap="square" lIns="0" tIns="0" rIns="0" bIns="0" rtlCol="0" anchor="ctr"/>
          <a:lstStyle/>
          <a:p>
            <a:pPr algn="ctr" indent="0" marL="0">
              <a:buNone/>
            </a:pPr>
            <a:r>
              <a:rPr lang="en-US" sz="5200" b="1" dirty="0">
                <a:solidFill>
                  <a:schemeClr val="accent1"/>
                </a:solidFill>
                <a:latin typeface="Cambria" pitchFamily="34" charset="0"/>
                <a:ea typeface="Cambria" pitchFamily="34" charset="-122"/>
                <a:cs typeface="Cambria" pitchFamily="34" charset="-120"/>
              </a:rPr>
              <a:t>2,703</a:t>
            </a:r>
            <a:endParaRPr lang="en-US" sz="5200" dirty="0"/>
          </a:p>
        </p:txBody>
      </p:sp>
      <p:sp>
        <p:nvSpPr>
          <p:cNvPr id="9" name="Text 6"/>
          <p:cNvSpPr txBox="1"/>
          <p:nvPr/>
        </p:nvSpPr>
        <p:spPr>
          <a:xfrm>
            <a:off x="2926080" y="3200400"/>
            <a:ext cx="1828800" cy="914400"/>
          </a:xfrm>
          <a:prstGeom prst="rect">
            <a:avLst/>
          </a:prstGeom>
          <a:noFill/>
          <a:ln/>
        </p:spPr>
        <p:txBody>
          <a:bodyPr wrap="square" lIns="0" tIns="0" rIns="0" bIns="0" rtlCol="0" anchor="t"/>
          <a:lstStyle/>
          <a:p>
            <a:pPr algn="ctr" indent="0" marL="0">
              <a:buNone/>
            </a:pPr>
            <a:r>
              <a:rPr lang="en-US" sz="1700" dirty="0">
                <a:solidFill>
                  <a:schemeClr val="tx1"/>
                </a:solidFill>
              </a:rPr>
              <a:t>page and security checks</a:t>
            </a:r>
            <a:endParaRPr lang="en-US" sz="1700" dirty="0"/>
          </a:p>
        </p:txBody>
      </p:sp>
      <p:sp>
        <p:nvSpPr>
          <p:cNvPr id="10" name="Stat card 3"/>
          <p:cNvSpPr/>
          <p:nvPr/>
        </p:nvSpPr>
        <p:spPr>
          <a:xfrm>
            <a:off x="5029200" y="1737360"/>
            <a:ext cx="2103120" cy="2651760"/>
          </a:xfrm>
          <a:prstGeom prst="roundRect">
            <a:avLst>
              <a:gd name="adj" fmla="val 5217"/>
            </a:avLst>
          </a:prstGeom>
          <a:solidFill>
            <a:schemeClr val="bg2"/>
          </a:solidFill>
          <a:ln/>
        </p:spPr>
      </p:sp>
      <p:sp>
        <p:nvSpPr>
          <p:cNvPr id="11" name="Stat 3"/>
          <p:cNvSpPr txBox="1"/>
          <p:nvPr/>
        </p:nvSpPr>
        <p:spPr>
          <a:xfrm>
            <a:off x="5029200" y="2057400"/>
            <a:ext cx="2103120" cy="1097280"/>
          </a:xfrm>
          <a:prstGeom prst="rect">
            <a:avLst/>
          </a:prstGeom>
          <a:noFill/>
          <a:ln/>
        </p:spPr>
        <p:txBody>
          <a:bodyPr wrap="square" lIns="0" tIns="0" rIns="0" bIns="0" rtlCol="0" anchor="ctr"/>
          <a:lstStyle/>
          <a:p>
            <a:pPr algn="ctr" indent="0" marL="0">
              <a:buNone/>
            </a:pPr>
            <a:r>
              <a:rPr lang="en-US" sz="5200" b="1" dirty="0">
                <a:solidFill>
                  <a:schemeClr val="accent1"/>
                </a:solidFill>
                <a:latin typeface="Cambria" pitchFamily="34" charset="0"/>
                <a:ea typeface="Cambria" pitchFamily="34" charset="-122"/>
                <a:cs typeface="Cambria" pitchFamily="34" charset="-120"/>
              </a:rPr>
              <a:t>30</a:t>
            </a:r>
            <a:endParaRPr lang="en-US" sz="5200" dirty="0"/>
          </a:p>
        </p:txBody>
      </p:sp>
      <p:sp>
        <p:nvSpPr>
          <p:cNvPr id="12" name="Text 9"/>
          <p:cNvSpPr txBox="1"/>
          <p:nvPr/>
        </p:nvSpPr>
        <p:spPr>
          <a:xfrm>
            <a:off x="5166360" y="3200400"/>
            <a:ext cx="1828800" cy="914400"/>
          </a:xfrm>
          <a:prstGeom prst="rect">
            <a:avLst/>
          </a:prstGeom>
          <a:noFill/>
          <a:ln/>
        </p:spPr>
        <p:txBody>
          <a:bodyPr wrap="square" lIns="0" tIns="0" rIns="0" bIns="0" rtlCol="0" anchor="t"/>
          <a:lstStyle/>
          <a:p>
            <a:pPr algn="ctr" indent="0" marL="0">
              <a:buNone/>
            </a:pPr>
            <a:r>
              <a:rPr lang="en-US" sz="1700" dirty="0">
                <a:solidFill>
                  <a:schemeClr val="tx1"/>
                </a:solidFill>
              </a:rPr>
              <a:t>specification documents</a:t>
            </a:r>
            <a:endParaRPr lang="en-US" sz="1700" dirty="0"/>
          </a:p>
        </p:txBody>
      </p:sp>
      <p:sp>
        <p:nvSpPr>
          <p:cNvPr id="13" name="Stat card 4"/>
          <p:cNvSpPr/>
          <p:nvPr/>
        </p:nvSpPr>
        <p:spPr>
          <a:xfrm>
            <a:off x="7269480" y="1737360"/>
            <a:ext cx="2103120" cy="2651760"/>
          </a:xfrm>
          <a:prstGeom prst="roundRect">
            <a:avLst>
              <a:gd name="adj" fmla="val 5217"/>
            </a:avLst>
          </a:prstGeom>
          <a:solidFill>
            <a:schemeClr val="bg2"/>
          </a:solidFill>
          <a:ln/>
        </p:spPr>
      </p:sp>
      <p:sp>
        <p:nvSpPr>
          <p:cNvPr id="14" name="Stat 4"/>
          <p:cNvSpPr txBox="1"/>
          <p:nvPr/>
        </p:nvSpPr>
        <p:spPr>
          <a:xfrm>
            <a:off x="7269480" y="2057400"/>
            <a:ext cx="2103120" cy="1097280"/>
          </a:xfrm>
          <a:prstGeom prst="rect">
            <a:avLst/>
          </a:prstGeom>
          <a:noFill/>
          <a:ln/>
        </p:spPr>
        <p:txBody>
          <a:bodyPr wrap="square" lIns="0" tIns="0" rIns="0" bIns="0" rtlCol="0" anchor="ctr"/>
          <a:lstStyle/>
          <a:p>
            <a:pPr algn="ctr" indent="0" marL="0">
              <a:buNone/>
            </a:pPr>
            <a:r>
              <a:rPr lang="en-US" sz="5200" b="1" dirty="0">
                <a:solidFill>
                  <a:schemeClr val="accent1"/>
                </a:solidFill>
                <a:latin typeface="Cambria" pitchFamily="34" charset="0"/>
                <a:ea typeface="Cambria" pitchFamily="34" charset="-122"/>
                <a:cs typeface="Cambria" pitchFamily="34" charset="-120"/>
              </a:rPr>
              <a:t>37</a:t>
            </a:r>
            <a:endParaRPr lang="en-US" sz="5200" dirty="0"/>
          </a:p>
        </p:txBody>
      </p:sp>
      <p:sp>
        <p:nvSpPr>
          <p:cNvPr id="15" name="Text 12"/>
          <p:cNvSpPr txBox="1"/>
          <p:nvPr/>
        </p:nvSpPr>
        <p:spPr>
          <a:xfrm>
            <a:off x="7406640" y="3200400"/>
            <a:ext cx="1828800" cy="914400"/>
          </a:xfrm>
          <a:prstGeom prst="rect">
            <a:avLst/>
          </a:prstGeom>
          <a:noFill/>
          <a:ln/>
        </p:spPr>
        <p:txBody>
          <a:bodyPr wrap="square" lIns="0" tIns="0" rIns="0" bIns="0" rtlCol="0" anchor="t"/>
          <a:lstStyle/>
          <a:p>
            <a:pPr algn="ctr" indent="0" marL="0">
              <a:buNone/>
            </a:pPr>
            <a:r>
              <a:rPr lang="en-US" sz="1700" dirty="0">
                <a:solidFill>
                  <a:schemeClr val="tx1"/>
                </a:solidFill>
              </a:rPr>
              <a:t>tested database updates</a:t>
            </a:r>
            <a:endParaRPr lang="en-US" sz="1700" dirty="0"/>
          </a:p>
        </p:txBody>
      </p:sp>
      <p:sp>
        <p:nvSpPr>
          <p:cNvPr id="16" name="Stat card 5"/>
          <p:cNvSpPr/>
          <p:nvPr/>
        </p:nvSpPr>
        <p:spPr>
          <a:xfrm>
            <a:off x="9509760" y="1737360"/>
            <a:ext cx="2103120" cy="2651760"/>
          </a:xfrm>
          <a:prstGeom prst="roundRect">
            <a:avLst>
              <a:gd name="adj" fmla="val 5217"/>
            </a:avLst>
          </a:prstGeom>
          <a:solidFill>
            <a:schemeClr val="bg2"/>
          </a:solidFill>
          <a:ln/>
        </p:spPr>
      </p:sp>
      <p:sp>
        <p:nvSpPr>
          <p:cNvPr id="17" name="Stat 5"/>
          <p:cNvSpPr txBox="1"/>
          <p:nvPr/>
        </p:nvSpPr>
        <p:spPr>
          <a:xfrm>
            <a:off x="9509760" y="2057400"/>
            <a:ext cx="2103120" cy="1097280"/>
          </a:xfrm>
          <a:prstGeom prst="rect">
            <a:avLst/>
          </a:prstGeom>
          <a:noFill/>
          <a:ln/>
        </p:spPr>
        <p:txBody>
          <a:bodyPr wrap="square" lIns="0" tIns="0" rIns="0" bIns="0" rtlCol="0" anchor="ctr"/>
          <a:lstStyle/>
          <a:p>
            <a:pPr algn="ctr" indent="0" marL="0">
              <a:buNone/>
            </a:pPr>
            <a:r>
              <a:rPr lang="en-US" sz="5200" b="1" dirty="0">
                <a:solidFill>
                  <a:schemeClr val="accent1"/>
                </a:solidFill>
                <a:latin typeface="Cambria" pitchFamily="34" charset="0"/>
                <a:ea typeface="Cambria" pitchFamily="34" charset="-122"/>
                <a:cs typeface="Cambria" pitchFamily="34" charset="-120"/>
              </a:rPr>
              <a:t>0</a:t>
            </a:r>
            <a:endParaRPr lang="en-US" sz="5200" dirty="0"/>
          </a:p>
        </p:txBody>
      </p:sp>
      <p:sp>
        <p:nvSpPr>
          <p:cNvPr id="18" name="Text 15"/>
          <p:cNvSpPr txBox="1"/>
          <p:nvPr/>
        </p:nvSpPr>
        <p:spPr>
          <a:xfrm>
            <a:off x="9646920" y="3200400"/>
            <a:ext cx="1828800" cy="914400"/>
          </a:xfrm>
          <a:prstGeom prst="rect">
            <a:avLst/>
          </a:prstGeom>
          <a:noFill/>
          <a:ln/>
        </p:spPr>
        <p:txBody>
          <a:bodyPr wrap="square" lIns="0" tIns="0" rIns="0" bIns="0" rtlCol="0" anchor="t"/>
          <a:lstStyle/>
          <a:p>
            <a:pPr algn="ctr" indent="0" marL="0">
              <a:buNone/>
            </a:pPr>
            <a:r>
              <a:rPr lang="en-US" sz="1700" dirty="0">
                <a:solidFill>
                  <a:schemeClr val="tx1"/>
                </a:solidFill>
              </a:rPr>
              <a:t>outside libraries</a:t>
            </a:r>
            <a:endParaRPr lang="en-US" sz="1700" dirty="0"/>
          </a:p>
        </p:txBody>
      </p:sp>
      <p:sp>
        <p:nvSpPr>
          <p:cNvPr id="19" name="Quality note"/>
          <p:cNvSpPr txBox="1"/>
          <p:nvPr/>
        </p:nvSpPr>
        <p:spPr>
          <a:xfrm>
            <a:off x="548640" y="4846320"/>
            <a:ext cx="11091672" cy="1097280"/>
          </a:xfrm>
          <a:prstGeom prst="rect">
            <a:avLst/>
          </a:prstGeom>
          <a:noFill/>
          <a:ln/>
        </p:spPr>
        <p:txBody>
          <a:bodyPr wrap="square" lIns="0" tIns="0" rIns="0" bIns="0" rtlCol="0" anchor="t"/>
          <a:lstStyle/>
          <a:p>
            <a:pPr indent="0" marL="0">
              <a:buNone/>
            </a:pPr>
            <a:r>
              <a:rPr lang="en-US" sz="2400" i="1" dirty="0">
                <a:solidFill>
                  <a:schemeClr val="tx2"/>
                </a:solidFill>
              </a:rPr>
              <a:t>Documentation first. Tests with every feature. Each update rehearsed on a copy before it goes live.</a:t>
            </a:r>
            <a:endParaRPr lang="en-US" sz="2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B"/>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1672" cy="86868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Running today, and what it costs to launch</a:t>
            </a:r>
            <a:endParaRPr lang="en-US" sz="3200" dirty="0"/>
          </a:p>
        </p:txBody>
      </p:sp>
      <p:sp>
        <p:nvSpPr>
          <p:cNvPr id="4" name="Live today card"/>
          <p:cNvSpPr/>
          <p:nvPr/>
        </p:nvSpPr>
        <p:spPr>
          <a:xfrm>
            <a:off x="548640" y="1554480"/>
            <a:ext cx="5029200" cy="3429000"/>
          </a:xfrm>
          <a:prstGeom prst="roundRect">
            <a:avLst>
              <a:gd name="adj" fmla="val 3200"/>
            </a:avLst>
          </a:prstGeom>
          <a:solidFill>
            <a:schemeClr val="bg2"/>
          </a:solidFill>
          <a:ln/>
        </p:spPr>
      </p:sp>
      <p:sp>
        <p:nvSpPr>
          <p:cNvPr id="5" name="Live today circle"/>
          <p:cNvSpPr/>
          <p:nvPr/>
        </p:nvSpPr>
        <p:spPr>
          <a:xfrm>
            <a:off x="868680" y="1828800"/>
            <a:ext cx="731520" cy="731520"/>
          </a:xfrm>
          <a:prstGeom prst="ellipse">
            <a:avLst/>
          </a:prstGeom>
          <a:solidFill>
            <a:schemeClr val="accent4"/>
          </a:solidFill>
          <a:ln/>
        </p:spPr>
      </p:sp>
      <p:pic>
        <p:nvPicPr>
          <p:cNvPr id="6" name="Live today icon" descr="Live today">    </p:cNvPr>
          <p:cNvPicPr>
            <a:picLocks noChangeAspect="1"/>
          </p:cNvPicPr>
          <p:nvPr/>
        </p:nvPicPr>
        <p:blipFill>
          <a:blip r:embed="rId1"/>
          <a:stretch>
            <a:fillRect/>
          </a:stretch>
        </p:blipFill>
        <p:spPr>
          <a:xfrm>
            <a:off x="1066190" y="2026310"/>
            <a:ext cx="336499" cy="336499"/>
          </a:xfrm>
          <a:prstGeom prst="rect">
            <a:avLst/>
          </a:prstGeom>
        </p:spPr>
      </p:pic>
      <p:sp>
        <p:nvSpPr>
          <p:cNvPr id="7" name="Text 3"/>
          <p:cNvSpPr txBox="1"/>
          <p:nvPr/>
        </p:nvSpPr>
        <p:spPr>
          <a:xfrm>
            <a:off x="1783080" y="1828800"/>
            <a:ext cx="3566160" cy="731520"/>
          </a:xfrm>
          <a:prstGeom prst="rect">
            <a:avLst/>
          </a:prstGeom>
          <a:noFill/>
          <a:ln/>
        </p:spPr>
        <p:txBody>
          <a:bodyPr wrap="square" lIns="0" tIns="0" rIns="0" bIns="0" rtlCol="0" anchor="ctr"/>
          <a:lstStyle/>
          <a:p>
            <a:pPr indent="0" marL="0">
              <a:buNone/>
            </a:pPr>
            <a:r>
              <a:rPr lang="en-US" sz="2600" b="1" dirty="0">
                <a:solidFill>
                  <a:schemeClr val="tx2"/>
                </a:solidFill>
                <a:latin typeface="Cambria" pitchFamily="34" charset="0"/>
                <a:ea typeface="Cambria" pitchFamily="34" charset="-122"/>
                <a:cs typeface="Cambria" pitchFamily="34" charset="-120"/>
              </a:rPr>
              <a:t>Live today</a:t>
            </a:r>
            <a:endParaRPr lang="en-US" sz="2600" dirty="0"/>
          </a:p>
        </p:txBody>
      </p:sp>
      <p:sp>
        <p:nvSpPr>
          <p:cNvPr id="8" name="Bullets"/>
          <p:cNvSpPr txBox="1"/>
          <p:nvPr/>
        </p:nvSpPr>
        <p:spPr>
          <a:xfrm>
            <a:off x="868680" y="2834640"/>
            <a:ext cx="4434840" cy="2011680"/>
          </a:xfrm>
          <a:prstGeom prst="rect">
            <a:avLst/>
          </a:prstGeom>
          <a:noFill/>
          <a:ln/>
        </p:spPr>
        <p:txBody>
          <a:bodyPr wrap="square" lIns="0" tIns="0" rIns="0" bIns="0" rtlCol="0" anchor="t"/>
          <a:lstStyle/>
          <a:p>
            <a:pPr marL="228600" indent="-228600">
              <a:spcAft>
                <a:spcPts val="1400"/>
              </a:spcAft>
              <a:buSzPct val="100000"/>
              <a:buChar char="•"/>
            </a:pPr>
            <a:r>
              <a:rPr lang="en-US" sz="1900" dirty="0">
                <a:solidFill>
                  <a:schemeClr val="tx1"/>
                </a:solidFill>
                <a:latin typeface="Calibri" pitchFamily="34" charset="0"/>
                <a:ea typeface="Calibri" pitchFamily="34" charset="-122"/>
                <a:cs typeface="Calibri" pitchFamily="34" charset="-120"/>
              </a:rPr>
              <a:t>Running as a pilot on free hosting</a:t>
            </a:r>
            <a:endParaRPr lang="en-US" sz="1900" dirty="0"/>
          </a:p>
          <a:p>
            <a:pPr marL="228600" indent="-228600">
              <a:spcAft>
                <a:spcPts val="1400"/>
              </a:spcAft>
              <a:buSzPct val="100000"/>
              <a:buChar char="•"/>
            </a:pPr>
            <a:r>
              <a:rPr lang="en-US" sz="1900" dirty="0">
                <a:solidFill>
                  <a:schemeClr val="tx1"/>
                </a:solidFill>
                <a:latin typeface="Calibri" pitchFamily="34" charset="0"/>
                <a:ea typeface="Calibri" pitchFamily="34" charset="-122"/>
                <a:cs typeface="Calibri" pitchFamily="34" charset="-120"/>
              </a:rPr>
              <a:t>Works from enrollment to payment</a:t>
            </a:r>
            <a:endParaRPr lang="en-US" sz="1900" dirty="0"/>
          </a:p>
          <a:p>
            <a:pPr marL="228600" indent="-228600">
              <a:spcAft>
                <a:spcPts val="1400"/>
              </a:spcAft>
              <a:buSzPct val="100000"/>
              <a:buChar char="•"/>
            </a:pPr>
            <a:r>
              <a:rPr lang="en-US" sz="1900" dirty="0">
                <a:solidFill>
                  <a:schemeClr val="tx1"/>
                </a:solidFill>
                <a:latin typeface="Calibri" pitchFamily="34" charset="0"/>
                <a:ea typeface="Calibri" pitchFamily="34" charset="-122"/>
                <a:cs typeface="Calibri" pitchFamily="34" charset="-120"/>
              </a:rPr>
              <a:t>Email is off; links are handed over</a:t>
            </a:r>
            <a:endParaRPr lang="en-US" sz="1900" dirty="0"/>
          </a:p>
        </p:txBody>
      </p:sp>
      <p:graphicFrame>
        <p:nvGraphicFramePr>
          <p:cNvPr id="13" name="Cost table"/>
          <p:cNvGraphicFramePr>
            <a:graphicFrameLocks noGrp="1"/>
          </p:cNvGraphicFramePr>
          <p:nvPr>
            <p:extLst>
              <p:ext uri="{D42A27DB-BD31-4B8C-83A1-F6EECF244321}">
                <p14:modId xmlns:p14="http://schemas.microsoft.com/office/powerpoint/2010/main" val="1579011935"/>
              </p:ext>
            </p:extLst>
          </p:nvPr>
        </p:nvGraphicFramePr>
        <p:xfrm>
          <a:off x="5989320" y="1645920"/>
          <a:ext cx="5650992" cy="914400"/>
        </p:xfrm>
        <a:graphic>
          <a:graphicData uri="http://schemas.openxmlformats.org/drawingml/2006/table">
            <a:tbl>
              <a:tblPr/>
              <a:tblGrid>
                <a:gridCol w="3520440"/>
                <a:gridCol w="2130552"/>
              </a:tblGrid>
              <a:tr h="566928">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Per year (estimate)</a:t>
                      </a:r>
                      <a:endParaRPr lang="en-US" sz="1600" dirty="0">
                        <a:latin typeface="Calibri" charset="0"/>
                        <a:ea typeface="Calibri" charset="0"/>
                        <a:cs typeface="Calibri" charset="0"/>
                      </a:endParaRPr>
                    </a:p>
                  </a:txBody>
                  <a:tcPr marL="109728" marR="109728" marT="0" marB="0" anchor="ctr">
                    <a:lnL w="12700" cap="flat" cmpd="sng" algn="ctr">
                      <a:solidFill>
                        <a:srgbClr val="D5E3F0"/>
                      </a:solidFill>
                      <a:prstDash val="solid"/>
                      <a:round/>
                      <a:headEnd type="none" w="med" len="med"/>
                      <a:tailEnd type="none" w="med" len="med"/>
                    </a:lnL>
                    <a:lnR w="12700" cap="flat" cmpd="sng" algn="ctr">
                      <a:solidFill>
                        <a:srgbClr val="D5E3F0"/>
                      </a:solidFill>
                      <a:prstDash val="solid"/>
                      <a:round/>
                      <a:headEnd type="none" w="med" len="med"/>
                      <a:tailEnd type="none" w="med" len="med"/>
                    </a:lnR>
                    <a:lnT w="12700" cap="flat" cmpd="sng" algn="ctr">
                      <a:solidFill>
                        <a:srgbClr val="D5E3F0"/>
                      </a:solidFill>
                      <a:prstDash val="solid"/>
                      <a:round/>
                      <a:headEnd type="none" w="med" len="med"/>
                      <a:tailEnd type="none" w="med" len="med"/>
                    </a:lnT>
                    <a:lnB w="12700" cap="flat" cmpd="sng" algn="ctr">
                      <a:solidFill>
                        <a:srgbClr val="D5E3F0"/>
                      </a:solidFill>
                      <a:prstDash val="solid"/>
                      <a:round/>
                      <a:headEnd type="none" w="med" len="med"/>
                      <a:tailEnd type="none" w="med" len="med"/>
                    </a:lnB>
                    <a:solidFill>
                      <a:srgbClr val="173F63"/>
                    </a:solidFill>
                  </a:tcPr>
                </a:tc>
                <a:tc>
                  <a:txBody>
                    <a:bodyPr/>
                    <a:lstStyle/>
                    <a:p>
                      <a:pPr algn="r" indent="0" marL="0">
                        <a:buNone/>
                      </a:pPr>
                      <a:r>
                        <a:rPr lang="en-US" sz="1600" b="1" dirty="0">
                          <a:solidFill>
                            <a:srgbClr val="FFFFFF"/>
                          </a:solidFill>
                          <a:latin typeface="Calibri" pitchFamily="34" charset="0"/>
                          <a:ea typeface="Calibri" pitchFamily="34" charset="-122"/>
                          <a:cs typeface="Calibri" pitchFamily="34" charset="-120"/>
                        </a:rPr>
                        <a:t>Cost</a:t>
                      </a:r>
                      <a:endParaRPr lang="en-US" sz="1600" dirty="0">
                        <a:latin typeface="Calibri" charset="0"/>
                        <a:ea typeface="Calibri" charset="0"/>
                        <a:cs typeface="Calibri" charset="0"/>
                      </a:endParaRPr>
                    </a:p>
                  </a:txBody>
                  <a:tcPr marL="109728" marR="109728" marT="0" marB="0" anchor="ctr">
                    <a:lnL w="12700" cap="flat" cmpd="sng" algn="ctr">
                      <a:solidFill>
                        <a:srgbClr val="D5E3F0"/>
                      </a:solidFill>
                      <a:prstDash val="solid"/>
                      <a:round/>
                      <a:headEnd type="none" w="med" len="med"/>
                      <a:tailEnd type="none" w="med" len="med"/>
                    </a:lnL>
                    <a:lnR w="12700" cap="flat" cmpd="sng" algn="ctr">
                      <a:solidFill>
                        <a:srgbClr val="D5E3F0"/>
                      </a:solidFill>
                      <a:prstDash val="solid"/>
                      <a:round/>
                      <a:headEnd type="none" w="med" len="med"/>
                      <a:tailEnd type="none" w="med" len="med"/>
                    </a:lnR>
                    <a:lnT w="12700" cap="flat" cmpd="sng" algn="ctr">
                      <a:solidFill>
                        <a:srgbClr val="D5E3F0"/>
                      </a:solidFill>
                      <a:prstDash val="solid"/>
                      <a:round/>
                      <a:headEnd type="none" w="med" len="med"/>
                      <a:tailEnd type="none" w="med" len="med"/>
                    </a:lnT>
                    <a:lnB w="12700" cap="flat" cmpd="sng" algn="ctr">
                      <a:solidFill>
                        <a:srgbClr val="D5E3F0"/>
                      </a:solidFill>
                      <a:prstDash val="solid"/>
                      <a:round/>
                      <a:headEnd type="none" w="med" len="med"/>
                      <a:tailEnd type="none" w="med" len="med"/>
                    </a:lnB>
                    <a:solidFill>
                      <a:srgbClr val="173F63"/>
                    </a:solidFill>
                  </a:tcPr>
                </a:tc>
              </a:tr>
              <a:tr h="566928">
                <a:tc>
                  <a:txBody>
                    <a:bodyPr/>
                    <a:lstStyle/>
                    <a:p>
                      <a:pPr indent="0" marL="0">
                        <a:buNone/>
                      </a:pPr>
                      <a:r>
                        <a:rPr lang="en-US" sz="1700" dirty="0">
                          <a:solidFill>
                            <a:srgbClr val="1B2A3A"/>
                          </a:solidFill>
                          <a:latin typeface="Calibri" pitchFamily="34" charset="0"/>
                          <a:ea typeface="Calibri" pitchFamily="34" charset="-122"/>
                          <a:cs typeface="Calibri" pitchFamily="34" charset="-120"/>
                        </a:rPr>
                        <a:t>Domain name (.com)</a:t>
                      </a:r>
                      <a:endParaRPr lang="en-US" sz="1700" dirty="0">
                        <a:latin typeface="Calibri" charset="0"/>
                        <a:ea typeface="Calibri" charset="0"/>
                        <a:cs typeface="Calibri" charset="0"/>
                      </a:endParaRPr>
                    </a:p>
                  </a:txBody>
                  <a:tcPr marL="109728" marR="109728" marT="0" marB="0" anchor="ctr">
                    <a:lnL w="12700" cap="flat" cmpd="sng" algn="ctr">
                      <a:solidFill>
                        <a:srgbClr val="D5E3F0"/>
                      </a:solidFill>
                      <a:prstDash val="solid"/>
                      <a:round/>
                      <a:headEnd type="none" w="med" len="med"/>
                      <a:tailEnd type="none" w="med" len="med"/>
                    </a:lnL>
                    <a:lnR w="12700" cap="flat" cmpd="sng" algn="ctr">
                      <a:solidFill>
                        <a:srgbClr val="D5E3F0"/>
                      </a:solidFill>
                      <a:prstDash val="solid"/>
                      <a:round/>
                      <a:headEnd type="none" w="med" len="med"/>
                      <a:tailEnd type="none" w="med" len="med"/>
                    </a:lnR>
                    <a:lnT w="12700" cap="flat" cmpd="sng" algn="ctr">
                      <a:solidFill>
                        <a:srgbClr val="D5E3F0"/>
                      </a:solidFill>
                      <a:prstDash val="solid"/>
                      <a:round/>
                      <a:headEnd type="none" w="med" len="med"/>
                      <a:tailEnd type="none" w="med" len="med"/>
                    </a:lnT>
                    <a:lnB w="12700" cap="flat" cmpd="sng" algn="ctr">
                      <a:solidFill>
                        <a:srgbClr val="D5E3F0"/>
                      </a:solidFill>
                      <a:prstDash val="solid"/>
                      <a:round/>
                      <a:headEnd type="none" w="med" len="med"/>
                      <a:tailEnd type="none" w="med" len="med"/>
                    </a:lnB>
                  </a:tcPr>
                </a:tc>
                <a:tc>
                  <a:txBody>
                    <a:bodyPr/>
                    <a:lstStyle/>
                    <a:p>
                      <a:pPr algn="r" indent="0" marL="0">
                        <a:buNone/>
                      </a:pPr>
                      <a:r>
                        <a:rPr lang="en-US" sz="1700" dirty="0">
                          <a:solidFill>
                            <a:srgbClr val="1B2A3A"/>
                          </a:solidFill>
                          <a:latin typeface="Calibri" pitchFamily="34" charset="0"/>
                          <a:ea typeface="Calibri" pitchFamily="34" charset="-122"/>
                          <a:cs typeface="Calibri" pitchFamily="34" charset="-120"/>
                        </a:rPr>
                        <a:t>₱700–1,200</a:t>
                      </a:r>
                      <a:endParaRPr lang="en-US" sz="1700" dirty="0">
                        <a:latin typeface="Calibri" charset="0"/>
                        <a:ea typeface="Calibri" charset="0"/>
                        <a:cs typeface="Calibri" charset="0"/>
                      </a:endParaRPr>
                    </a:p>
                  </a:txBody>
                  <a:tcPr marL="109728" marR="109728" marT="0" marB="0" anchor="ctr">
                    <a:lnL w="12700" cap="flat" cmpd="sng" algn="ctr">
                      <a:solidFill>
                        <a:srgbClr val="D5E3F0"/>
                      </a:solidFill>
                      <a:prstDash val="solid"/>
                      <a:round/>
                      <a:headEnd type="none" w="med" len="med"/>
                      <a:tailEnd type="none" w="med" len="med"/>
                    </a:lnL>
                    <a:lnR w="12700" cap="flat" cmpd="sng" algn="ctr">
                      <a:solidFill>
                        <a:srgbClr val="D5E3F0"/>
                      </a:solidFill>
                      <a:prstDash val="solid"/>
                      <a:round/>
                      <a:headEnd type="none" w="med" len="med"/>
                      <a:tailEnd type="none" w="med" len="med"/>
                    </a:lnR>
                    <a:lnT w="12700" cap="flat" cmpd="sng" algn="ctr">
                      <a:solidFill>
                        <a:srgbClr val="D5E3F0"/>
                      </a:solidFill>
                      <a:prstDash val="solid"/>
                      <a:round/>
                      <a:headEnd type="none" w="med" len="med"/>
                      <a:tailEnd type="none" w="med" len="med"/>
                    </a:lnT>
                    <a:lnB w="12700" cap="flat" cmpd="sng" algn="ctr">
                      <a:solidFill>
                        <a:srgbClr val="D5E3F0"/>
                      </a:solidFill>
                      <a:prstDash val="solid"/>
                      <a:round/>
                      <a:headEnd type="none" w="med" len="med"/>
                      <a:tailEnd type="none" w="med" len="med"/>
                    </a:lnB>
                  </a:tcPr>
                </a:tc>
              </a:tr>
              <a:tr h="566928">
                <a:tc>
                  <a:txBody>
                    <a:bodyPr/>
                    <a:lstStyle/>
                    <a:p>
                      <a:pPr indent="0" marL="0">
                        <a:buNone/>
                      </a:pPr>
                      <a:r>
                        <a:rPr lang="en-US" sz="1700" dirty="0">
                          <a:solidFill>
                            <a:srgbClr val="1B2A3A"/>
                          </a:solidFill>
                          <a:latin typeface="Calibri" pitchFamily="34" charset="0"/>
                          <a:ea typeface="Calibri" pitchFamily="34" charset="-122"/>
                          <a:cs typeface="Calibri" pitchFamily="34" charset="-120"/>
                        </a:rPr>
                        <a:t>Shared hosting with backups</a:t>
                      </a:r>
                      <a:endParaRPr lang="en-US" sz="1700" dirty="0">
                        <a:latin typeface="Calibri" charset="0"/>
                        <a:ea typeface="Calibri" charset="0"/>
                        <a:cs typeface="Calibri" charset="0"/>
                      </a:endParaRPr>
                    </a:p>
                  </a:txBody>
                  <a:tcPr marL="109728" marR="109728" marT="0" marB="0" anchor="ctr">
                    <a:lnL w="12700" cap="flat" cmpd="sng" algn="ctr">
                      <a:solidFill>
                        <a:srgbClr val="D5E3F0"/>
                      </a:solidFill>
                      <a:prstDash val="solid"/>
                      <a:round/>
                      <a:headEnd type="none" w="med" len="med"/>
                      <a:tailEnd type="none" w="med" len="med"/>
                    </a:lnL>
                    <a:lnR w="12700" cap="flat" cmpd="sng" algn="ctr">
                      <a:solidFill>
                        <a:srgbClr val="D5E3F0"/>
                      </a:solidFill>
                      <a:prstDash val="solid"/>
                      <a:round/>
                      <a:headEnd type="none" w="med" len="med"/>
                      <a:tailEnd type="none" w="med" len="med"/>
                    </a:lnR>
                    <a:lnT w="12700" cap="flat" cmpd="sng" algn="ctr">
                      <a:solidFill>
                        <a:srgbClr val="D5E3F0"/>
                      </a:solidFill>
                      <a:prstDash val="solid"/>
                      <a:round/>
                      <a:headEnd type="none" w="med" len="med"/>
                      <a:tailEnd type="none" w="med" len="med"/>
                    </a:lnT>
                    <a:lnB w="12700" cap="flat" cmpd="sng" algn="ctr">
                      <a:solidFill>
                        <a:srgbClr val="D5E3F0"/>
                      </a:solidFill>
                      <a:prstDash val="solid"/>
                      <a:round/>
                      <a:headEnd type="none" w="med" len="med"/>
                      <a:tailEnd type="none" w="med" len="med"/>
                    </a:lnB>
                  </a:tcPr>
                </a:tc>
                <a:tc>
                  <a:txBody>
                    <a:bodyPr/>
                    <a:lstStyle/>
                    <a:p>
                      <a:pPr algn="r" indent="0" marL="0">
                        <a:buNone/>
                      </a:pPr>
                      <a:r>
                        <a:rPr lang="en-US" sz="1700" dirty="0">
                          <a:solidFill>
                            <a:srgbClr val="1B2A3A"/>
                          </a:solidFill>
                          <a:latin typeface="Calibri" pitchFamily="34" charset="0"/>
                          <a:ea typeface="Calibri" pitchFamily="34" charset="-122"/>
                          <a:cs typeface="Calibri" pitchFamily="34" charset="-120"/>
                        </a:rPr>
                        <a:t>₱1,800–5,000</a:t>
                      </a:r>
                      <a:endParaRPr lang="en-US" sz="1700" dirty="0">
                        <a:latin typeface="Calibri" charset="0"/>
                        <a:ea typeface="Calibri" charset="0"/>
                        <a:cs typeface="Calibri" charset="0"/>
                      </a:endParaRPr>
                    </a:p>
                  </a:txBody>
                  <a:tcPr marL="109728" marR="109728" marT="0" marB="0" anchor="ctr">
                    <a:lnL w="12700" cap="flat" cmpd="sng" algn="ctr">
                      <a:solidFill>
                        <a:srgbClr val="D5E3F0"/>
                      </a:solidFill>
                      <a:prstDash val="solid"/>
                      <a:round/>
                      <a:headEnd type="none" w="med" len="med"/>
                      <a:tailEnd type="none" w="med" len="med"/>
                    </a:lnL>
                    <a:lnR w="12700" cap="flat" cmpd="sng" algn="ctr">
                      <a:solidFill>
                        <a:srgbClr val="D5E3F0"/>
                      </a:solidFill>
                      <a:prstDash val="solid"/>
                      <a:round/>
                      <a:headEnd type="none" w="med" len="med"/>
                      <a:tailEnd type="none" w="med" len="med"/>
                    </a:lnR>
                    <a:lnT w="12700" cap="flat" cmpd="sng" algn="ctr">
                      <a:solidFill>
                        <a:srgbClr val="D5E3F0"/>
                      </a:solidFill>
                      <a:prstDash val="solid"/>
                      <a:round/>
                      <a:headEnd type="none" w="med" len="med"/>
                      <a:tailEnd type="none" w="med" len="med"/>
                    </a:lnT>
                    <a:lnB w="12700" cap="flat" cmpd="sng" algn="ctr">
                      <a:solidFill>
                        <a:srgbClr val="D5E3F0"/>
                      </a:solidFill>
                      <a:prstDash val="solid"/>
                      <a:round/>
                      <a:headEnd type="none" w="med" len="med"/>
                      <a:tailEnd type="none" w="med" len="med"/>
                    </a:lnB>
                  </a:tcPr>
                </a:tc>
              </a:tr>
              <a:tr h="566928">
                <a:tc>
                  <a:txBody>
                    <a:bodyPr/>
                    <a:lstStyle/>
                    <a:p>
                      <a:pPr indent="0" marL="0">
                        <a:buNone/>
                      </a:pPr>
                      <a:r>
                        <a:rPr lang="en-US" sz="1700" dirty="0">
                          <a:solidFill>
                            <a:srgbClr val="1B2A3A"/>
                          </a:solidFill>
                          <a:latin typeface="Calibri" pitchFamily="34" charset="0"/>
                          <a:ea typeface="Calibri" pitchFamily="34" charset="-122"/>
                          <a:cs typeface="Calibri" pitchFamily="34" charset="-120"/>
                        </a:rPr>
                        <a:t>Email service</a:t>
                      </a:r>
                      <a:endParaRPr lang="en-US" sz="1700" dirty="0">
                        <a:latin typeface="Calibri" charset="0"/>
                        <a:ea typeface="Calibri" charset="0"/>
                        <a:cs typeface="Calibri" charset="0"/>
                      </a:endParaRPr>
                    </a:p>
                  </a:txBody>
                  <a:tcPr marL="109728" marR="109728" marT="0" marB="0" anchor="ctr">
                    <a:lnL w="12700" cap="flat" cmpd="sng" algn="ctr">
                      <a:solidFill>
                        <a:srgbClr val="D5E3F0"/>
                      </a:solidFill>
                      <a:prstDash val="solid"/>
                      <a:round/>
                      <a:headEnd type="none" w="med" len="med"/>
                      <a:tailEnd type="none" w="med" len="med"/>
                    </a:lnL>
                    <a:lnR w="12700" cap="flat" cmpd="sng" algn="ctr">
                      <a:solidFill>
                        <a:srgbClr val="D5E3F0"/>
                      </a:solidFill>
                      <a:prstDash val="solid"/>
                      <a:round/>
                      <a:headEnd type="none" w="med" len="med"/>
                      <a:tailEnd type="none" w="med" len="med"/>
                    </a:lnR>
                    <a:lnT w="12700" cap="flat" cmpd="sng" algn="ctr">
                      <a:solidFill>
                        <a:srgbClr val="D5E3F0"/>
                      </a:solidFill>
                      <a:prstDash val="solid"/>
                      <a:round/>
                      <a:headEnd type="none" w="med" len="med"/>
                      <a:tailEnd type="none" w="med" len="med"/>
                    </a:lnT>
                    <a:lnB w="12700" cap="flat" cmpd="sng" algn="ctr">
                      <a:solidFill>
                        <a:srgbClr val="D5E3F0"/>
                      </a:solidFill>
                      <a:prstDash val="solid"/>
                      <a:round/>
                      <a:headEnd type="none" w="med" len="med"/>
                      <a:tailEnd type="none" w="med" len="med"/>
                    </a:lnB>
                  </a:tcPr>
                </a:tc>
                <a:tc>
                  <a:txBody>
                    <a:bodyPr/>
                    <a:lstStyle/>
                    <a:p>
                      <a:pPr algn="r" indent="0" marL="0">
                        <a:buNone/>
                      </a:pPr>
                      <a:r>
                        <a:rPr lang="en-US" sz="1700" dirty="0">
                          <a:solidFill>
                            <a:srgbClr val="1B2A3A"/>
                          </a:solidFill>
                          <a:latin typeface="Calibri" pitchFamily="34" charset="0"/>
                          <a:ea typeface="Calibri" pitchFamily="34" charset="-122"/>
                          <a:cs typeface="Calibri" pitchFamily="34" charset="-120"/>
                        </a:rPr>
                        <a:t>Free–₱1,500</a:t>
                      </a:r>
                      <a:endParaRPr lang="en-US" sz="1700" dirty="0">
                        <a:latin typeface="Calibri" charset="0"/>
                        <a:ea typeface="Calibri" charset="0"/>
                        <a:cs typeface="Calibri" charset="0"/>
                      </a:endParaRPr>
                    </a:p>
                  </a:txBody>
                  <a:tcPr marL="109728" marR="109728" marT="0" marB="0" anchor="ctr">
                    <a:lnL w="12700" cap="flat" cmpd="sng" algn="ctr">
                      <a:solidFill>
                        <a:srgbClr val="D5E3F0"/>
                      </a:solidFill>
                      <a:prstDash val="solid"/>
                      <a:round/>
                      <a:headEnd type="none" w="med" len="med"/>
                      <a:tailEnd type="none" w="med" len="med"/>
                    </a:lnL>
                    <a:lnR w="12700" cap="flat" cmpd="sng" algn="ctr">
                      <a:solidFill>
                        <a:srgbClr val="D5E3F0"/>
                      </a:solidFill>
                      <a:prstDash val="solid"/>
                      <a:round/>
                      <a:headEnd type="none" w="med" len="med"/>
                      <a:tailEnd type="none" w="med" len="med"/>
                    </a:lnR>
                    <a:lnT w="12700" cap="flat" cmpd="sng" algn="ctr">
                      <a:solidFill>
                        <a:srgbClr val="D5E3F0"/>
                      </a:solidFill>
                      <a:prstDash val="solid"/>
                      <a:round/>
                      <a:headEnd type="none" w="med" len="med"/>
                      <a:tailEnd type="none" w="med" len="med"/>
                    </a:lnT>
                    <a:lnB w="12700" cap="flat" cmpd="sng" algn="ctr">
                      <a:solidFill>
                        <a:srgbClr val="D5E3F0"/>
                      </a:solidFill>
                      <a:prstDash val="solid"/>
                      <a:round/>
                      <a:headEnd type="none" w="med" len="med"/>
                      <a:tailEnd type="none" w="med" len="med"/>
                    </a:lnB>
                  </a:tcPr>
                </a:tc>
              </a:tr>
              <a:tr h="566928">
                <a:tc>
                  <a:txBody>
                    <a:bodyPr/>
                    <a:lstStyle/>
                    <a:p>
                      <a:pPr indent="0" marL="0">
                        <a:buNone/>
                      </a:pPr>
                      <a:r>
                        <a:rPr lang="en-US" sz="1700" b="1" dirty="0">
                          <a:solidFill>
                            <a:srgbClr val="1B2A3A"/>
                          </a:solidFill>
                          <a:latin typeface="Calibri" pitchFamily="34" charset="0"/>
                          <a:ea typeface="Calibri" pitchFamily="34" charset="-122"/>
                          <a:cs typeface="Calibri" pitchFamily="34" charset="-120"/>
                        </a:rPr>
                        <a:t>Total, roughly</a:t>
                      </a:r>
                      <a:endParaRPr lang="en-US" sz="1700" dirty="0">
                        <a:latin typeface="Calibri" charset="0"/>
                        <a:ea typeface="Calibri" charset="0"/>
                        <a:cs typeface="Calibri" charset="0"/>
                      </a:endParaRPr>
                    </a:p>
                  </a:txBody>
                  <a:tcPr marL="109728" marR="109728" marT="0" marB="0" anchor="ctr">
                    <a:lnL w="12700" cap="flat" cmpd="sng" algn="ctr">
                      <a:solidFill>
                        <a:srgbClr val="D5E3F0"/>
                      </a:solidFill>
                      <a:prstDash val="solid"/>
                      <a:round/>
                      <a:headEnd type="none" w="med" len="med"/>
                      <a:tailEnd type="none" w="med" len="med"/>
                    </a:lnL>
                    <a:lnR w="12700" cap="flat" cmpd="sng" algn="ctr">
                      <a:solidFill>
                        <a:srgbClr val="D5E3F0"/>
                      </a:solidFill>
                      <a:prstDash val="solid"/>
                      <a:round/>
                      <a:headEnd type="none" w="med" len="med"/>
                      <a:tailEnd type="none" w="med" len="med"/>
                    </a:lnR>
                    <a:lnT w="12700" cap="flat" cmpd="sng" algn="ctr">
                      <a:solidFill>
                        <a:srgbClr val="D5E3F0"/>
                      </a:solidFill>
                      <a:prstDash val="solid"/>
                      <a:round/>
                      <a:headEnd type="none" w="med" len="med"/>
                      <a:tailEnd type="none" w="med" len="med"/>
                    </a:lnT>
                    <a:lnB w="12700" cap="flat" cmpd="sng" algn="ctr">
                      <a:solidFill>
                        <a:srgbClr val="D5E3F0"/>
                      </a:solidFill>
                      <a:prstDash val="solid"/>
                      <a:round/>
                      <a:headEnd type="none" w="med" len="med"/>
                      <a:tailEnd type="none" w="med" len="med"/>
                    </a:lnB>
                    <a:solidFill>
                      <a:srgbClr val="EAF3FB"/>
                    </a:solidFill>
                  </a:tcPr>
                </a:tc>
                <a:tc>
                  <a:txBody>
                    <a:bodyPr/>
                    <a:lstStyle/>
                    <a:p>
                      <a:pPr algn="r" indent="0" marL="0">
                        <a:buNone/>
                      </a:pPr>
                      <a:r>
                        <a:rPr lang="en-US" sz="1700" b="1" dirty="0">
                          <a:solidFill>
                            <a:srgbClr val="1B2A3A"/>
                          </a:solidFill>
                          <a:latin typeface="Calibri" pitchFamily="34" charset="0"/>
                          <a:ea typeface="Calibri" pitchFamily="34" charset="-122"/>
                          <a:cs typeface="Calibri" pitchFamily="34" charset="-120"/>
                        </a:rPr>
                        <a:t>₱3,000–8,000</a:t>
                      </a:r>
                      <a:endParaRPr lang="en-US" sz="1700" dirty="0">
                        <a:latin typeface="Calibri" charset="0"/>
                        <a:ea typeface="Calibri" charset="0"/>
                        <a:cs typeface="Calibri" charset="0"/>
                      </a:endParaRPr>
                    </a:p>
                  </a:txBody>
                  <a:tcPr marL="109728" marR="109728" marT="0" marB="0" anchor="ctr">
                    <a:lnL w="12700" cap="flat" cmpd="sng" algn="ctr">
                      <a:solidFill>
                        <a:srgbClr val="D5E3F0"/>
                      </a:solidFill>
                      <a:prstDash val="solid"/>
                      <a:round/>
                      <a:headEnd type="none" w="med" len="med"/>
                      <a:tailEnd type="none" w="med" len="med"/>
                    </a:lnL>
                    <a:lnR w="12700" cap="flat" cmpd="sng" algn="ctr">
                      <a:solidFill>
                        <a:srgbClr val="D5E3F0"/>
                      </a:solidFill>
                      <a:prstDash val="solid"/>
                      <a:round/>
                      <a:headEnd type="none" w="med" len="med"/>
                      <a:tailEnd type="none" w="med" len="med"/>
                    </a:lnR>
                    <a:lnT w="12700" cap="flat" cmpd="sng" algn="ctr">
                      <a:solidFill>
                        <a:srgbClr val="D5E3F0"/>
                      </a:solidFill>
                      <a:prstDash val="solid"/>
                      <a:round/>
                      <a:headEnd type="none" w="med" len="med"/>
                      <a:tailEnd type="none" w="med" len="med"/>
                    </a:lnT>
                    <a:lnB w="12700" cap="flat" cmpd="sng" algn="ctr">
                      <a:solidFill>
                        <a:srgbClr val="D5E3F0"/>
                      </a:solidFill>
                      <a:prstDash val="solid"/>
                      <a:round/>
                      <a:headEnd type="none" w="med" len="med"/>
                      <a:tailEnd type="none" w="med" len="med"/>
                    </a:lnB>
                    <a:solidFill>
                      <a:srgbClr val="EAF3FB"/>
                    </a:solidFill>
                  </a:tcPr>
                </a:tc>
              </a:tr>
            </a:tbl>
          </a:graphicData>
        </a:graphic>
      </p:graphicFrame>
      <p:sp>
        <p:nvSpPr>
          <p:cNvPr id="10" name="Text 5"/>
          <p:cNvSpPr txBox="1"/>
          <p:nvPr/>
        </p:nvSpPr>
        <p:spPr>
          <a:xfrm>
            <a:off x="5989320" y="4663440"/>
            <a:ext cx="5650992" cy="365760"/>
          </a:xfrm>
          <a:prstGeom prst="rect">
            <a:avLst/>
          </a:prstGeom>
          <a:noFill/>
          <a:ln/>
        </p:spPr>
        <p:txBody>
          <a:bodyPr wrap="square" lIns="0" tIns="0" rIns="0" bIns="0" rtlCol="0" anchor="ctr"/>
          <a:lstStyle/>
          <a:p>
            <a:pPr indent="0" marL="0">
              <a:buNone/>
            </a:pPr>
            <a:r>
              <a:rPr lang="en-US" sz="1300" i="1" dirty="0">
                <a:solidFill>
                  <a:schemeClr val="accent6"/>
                </a:solidFill>
              </a:rPr>
              <a:t>Estimates only. Confirm current prices before buying.</a:t>
            </a:r>
            <a:endParaRPr lang="en-US" sz="13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B"/>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1672" cy="86868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Honest limits, and the next steps</a:t>
            </a:r>
            <a:endParaRPr lang="en-US" sz="3200" dirty="0"/>
          </a:p>
        </p:txBody>
      </p:sp>
      <p:sp>
        <p:nvSpPr>
          <p:cNvPr id="4" name="Honest limits card"/>
          <p:cNvSpPr/>
          <p:nvPr/>
        </p:nvSpPr>
        <p:spPr>
          <a:xfrm>
            <a:off x="548640" y="1554480"/>
            <a:ext cx="5440680" cy="4572000"/>
          </a:xfrm>
          <a:prstGeom prst="roundRect">
            <a:avLst>
              <a:gd name="adj" fmla="val 2400"/>
            </a:avLst>
          </a:prstGeom>
          <a:solidFill>
            <a:schemeClr val="bg2"/>
          </a:solidFill>
          <a:ln/>
        </p:spPr>
      </p:sp>
      <p:sp>
        <p:nvSpPr>
          <p:cNvPr id="5" name="Text 2"/>
          <p:cNvSpPr txBox="1"/>
          <p:nvPr/>
        </p:nvSpPr>
        <p:spPr>
          <a:xfrm>
            <a:off x="914400" y="1783080"/>
            <a:ext cx="4663440" cy="548640"/>
          </a:xfrm>
          <a:prstGeom prst="rect">
            <a:avLst/>
          </a:prstGeom>
          <a:noFill/>
          <a:ln/>
        </p:spPr>
        <p:txBody>
          <a:bodyPr wrap="square" lIns="0" tIns="0" rIns="0" bIns="0" rtlCol="0" anchor="ctr"/>
          <a:lstStyle/>
          <a:p>
            <a:pPr indent="0" marL="0">
              <a:buNone/>
            </a:pPr>
            <a:r>
              <a:rPr lang="en-US" sz="2400" b="1" dirty="0">
                <a:solidFill>
                  <a:schemeClr val="tx2"/>
                </a:solidFill>
                <a:latin typeface="Cambria" pitchFamily="34" charset="0"/>
                <a:ea typeface="Cambria" pitchFamily="34" charset="-122"/>
                <a:cs typeface="Cambria" pitchFamily="34" charset="-120"/>
              </a:rPr>
              <a:t>Honest limits</a:t>
            </a:r>
            <a:endParaRPr lang="en-US" sz="2400" dirty="0"/>
          </a:p>
        </p:txBody>
      </p:sp>
      <p:sp>
        <p:nvSpPr>
          <p:cNvPr id="6" name="Limit marker 1"/>
          <p:cNvSpPr/>
          <p:nvPr/>
        </p:nvSpPr>
        <p:spPr>
          <a:xfrm>
            <a:off x="914400" y="2894076"/>
            <a:ext cx="201168" cy="201168"/>
          </a:xfrm>
          <a:prstGeom prst="ellipse">
            <a:avLst/>
          </a:prstGeom>
          <a:solidFill>
            <a:schemeClr val="accent5"/>
          </a:solidFill>
          <a:ln/>
        </p:spPr>
      </p:sp>
      <p:sp>
        <p:nvSpPr>
          <p:cNvPr id="7" name="Text 4"/>
          <p:cNvSpPr txBox="1"/>
          <p:nvPr/>
        </p:nvSpPr>
        <p:spPr>
          <a:xfrm>
            <a:off x="1554480" y="2606040"/>
            <a:ext cx="4114800" cy="777240"/>
          </a:xfrm>
          <a:prstGeom prst="rect">
            <a:avLst/>
          </a:prstGeom>
          <a:noFill/>
          <a:ln/>
        </p:spPr>
        <p:txBody>
          <a:bodyPr wrap="square" lIns="0" tIns="0" rIns="0" bIns="0" rtlCol="0" anchor="ctr"/>
          <a:lstStyle/>
          <a:p>
            <a:pPr indent="0" marL="0">
              <a:buNone/>
            </a:pPr>
            <a:r>
              <a:rPr lang="en-US" sz="1700" dirty="0">
                <a:solidFill>
                  <a:schemeClr val="tx1"/>
                </a:solidFill>
              </a:rPr>
              <a:t>Email is off on the pilot</a:t>
            </a:r>
            <a:endParaRPr lang="en-US" sz="1700" dirty="0"/>
          </a:p>
        </p:txBody>
      </p:sp>
      <p:sp>
        <p:nvSpPr>
          <p:cNvPr id="8" name="Limit marker 2"/>
          <p:cNvSpPr/>
          <p:nvPr/>
        </p:nvSpPr>
        <p:spPr>
          <a:xfrm>
            <a:off x="914400" y="3762756"/>
            <a:ext cx="201168" cy="201168"/>
          </a:xfrm>
          <a:prstGeom prst="ellipse">
            <a:avLst/>
          </a:prstGeom>
          <a:solidFill>
            <a:schemeClr val="accent5"/>
          </a:solidFill>
          <a:ln/>
        </p:spPr>
      </p:sp>
      <p:sp>
        <p:nvSpPr>
          <p:cNvPr id="9" name="Text 6"/>
          <p:cNvSpPr txBox="1"/>
          <p:nvPr/>
        </p:nvSpPr>
        <p:spPr>
          <a:xfrm>
            <a:off x="1554480" y="3474720"/>
            <a:ext cx="4114800" cy="777240"/>
          </a:xfrm>
          <a:prstGeom prst="rect">
            <a:avLst/>
          </a:prstGeom>
          <a:noFill/>
          <a:ln/>
        </p:spPr>
        <p:txBody>
          <a:bodyPr wrap="square" lIns="0" tIns="0" rIns="0" bIns="0" rtlCol="0" anchor="ctr"/>
          <a:lstStyle/>
          <a:p>
            <a:pPr indent="0" marL="0">
              <a:buNone/>
            </a:pPr>
            <a:r>
              <a:rPr lang="en-US" sz="1700" dirty="0">
                <a:solidFill>
                  <a:schemeClr val="tx1"/>
                </a:solidFill>
              </a:rPr>
              <a:t>Free hosting suits a pilot, not real student records</a:t>
            </a:r>
            <a:endParaRPr lang="en-US" sz="1700" dirty="0"/>
          </a:p>
        </p:txBody>
      </p:sp>
      <p:sp>
        <p:nvSpPr>
          <p:cNvPr id="10" name="Limit marker 3"/>
          <p:cNvSpPr/>
          <p:nvPr/>
        </p:nvSpPr>
        <p:spPr>
          <a:xfrm>
            <a:off x="914400" y="4631436"/>
            <a:ext cx="201168" cy="201168"/>
          </a:xfrm>
          <a:prstGeom prst="ellipse">
            <a:avLst/>
          </a:prstGeom>
          <a:solidFill>
            <a:schemeClr val="accent5"/>
          </a:solidFill>
          <a:ln/>
        </p:spPr>
      </p:sp>
      <p:sp>
        <p:nvSpPr>
          <p:cNvPr id="11" name="Text 8"/>
          <p:cNvSpPr txBox="1"/>
          <p:nvPr/>
        </p:nvSpPr>
        <p:spPr>
          <a:xfrm>
            <a:off x="1554480" y="4343400"/>
            <a:ext cx="4114800" cy="777240"/>
          </a:xfrm>
          <a:prstGeom prst="rect">
            <a:avLst/>
          </a:prstGeom>
          <a:noFill/>
          <a:ln/>
        </p:spPr>
        <p:txBody>
          <a:bodyPr wrap="square" lIns="0" tIns="0" rIns="0" bIns="0" rtlCol="0" anchor="ctr"/>
          <a:lstStyle/>
          <a:p>
            <a:pPr indent="0" marL="0">
              <a:buNone/>
            </a:pPr>
            <a:r>
              <a:rPr lang="en-US" sz="1700" dirty="0">
                <a:solidFill>
                  <a:schemeClr val="tx1"/>
                </a:solidFill>
              </a:rPr>
              <a:t>Fee amounts for other programs are still to be entered</a:t>
            </a:r>
            <a:endParaRPr lang="en-US" sz="1700" dirty="0"/>
          </a:p>
        </p:txBody>
      </p:sp>
      <p:sp>
        <p:nvSpPr>
          <p:cNvPr id="12" name="Limit marker 4"/>
          <p:cNvSpPr/>
          <p:nvPr/>
        </p:nvSpPr>
        <p:spPr>
          <a:xfrm>
            <a:off x="914400" y="5500116"/>
            <a:ext cx="201168" cy="201168"/>
          </a:xfrm>
          <a:prstGeom prst="ellipse">
            <a:avLst/>
          </a:prstGeom>
          <a:solidFill>
            <a:schemeClr val="accent5"/>
          </a:solidFill>
          <a:ln/>
        </p:spPr>
      </p:sp>
      <p:sp>
        <p:nvSpPr>
          <p:cNvPr id="13" name="Text 10"/>
          <p:cNvSpPr txBox="1"/>
          <p:nvPr/>
        </p:nvSpPr>
        <p:spPr>
          <a:xfrm>
            <a:off x="1554480" y="5212080"/>
            <a:ext cx="4114800" cy="777240"/>
          </a:xfrm>
          <a:prstGeom prst="rect">
            <a:avLst/>
          </a:prstGeom>
          <a:noFill/>
          <a:ln/>
        </p:spPr>
        <p:txBody>
          <a:bodyPr wrap="square" lIns="0" tIns="0" rIns="0" bIns="0" rtlCol="0" anchor="ctr"/>
          <a:lstStyle/>
          <a:p>
            <a:pPr indent="0" marL="0">
              <a:buNone/>
            </a:pPr>
            <a:r>
              <a:rPr lang="en-US" sz="1700" dirty="0">
                <a:solidFill>
                  <a:schemeClr val="tx1"/>
                </a:solidFill>
              </a:rPr>
              <a:t>The e-signature is an image, not a legal digital signature</a:t>
            </a:r>
            <a:endParaRPr lang="en-US" sz="1700" dirty="0"/>
          </a:p>
        </p:txBody>
      </p:sp>
      <p:sp>
        <p:nvSpPr>
          <p:cNvPr id="14" name="Next steps card"/>
          <p:cNvSpPr/>
          <p:nvPr/>
        </p:nvSpPr>
        <p:spPr>
          <a:xfrm>
            <a:off x="6199632" y="1554480"/>
            <a:ext cx="5440680" cy="4572000"/>
          </a:xfrm>
          <a:prstGeom prst="roundRect">
            <a:avLst>
              <a:gd name="adj" fmla="val 2400"/>
            </a:avLst>
          </a:prstGeom>
          <a:solidFill>
            <a:schemeClr val="bg2"/>
          </a:solidFill>
          <a:ln/>
        </p:spPr>
      </p:sp>
      <p:sp>
        <p:nvSpPr>
          <p:cNvPr id="15" name="Text 12"/>
          <p:cNvSpPr txBox="1"/>
          <p:nvPr/>
        </p:nvSpPr>
        <p:spPr>
          <a:xfrm>
            <a:off x="6565392" y="1783080"/>
            <a:ext cx="4663440" cy="548640"/>
          </a:xfrm>
          <a:prstGeom prst="rect">
            <a:avLst/>
          </a:prstGeom>
          <a:noFill/>
          <a:ln/>
        </p:spPr>
        <p:txBody>
          <a:bodyPr wrap="square" lIns="0" tIns="0" rIns="0" bIns="0" rtlCol="0" anchor="ctr"/>
          <a:lstStyle/>
          <a:p>
            <a:pPr indent="0" marL="0">
              <a:buNone/>
            </a:pPr>
            <a:r>
              <a:rPr lang="en-US" sz="2400" b="1" dirty="0">
                <a:solidFill>
                  <a:schemeClr val="tx2"/>
                </a:solidFill>
                <a:latin typeface="Cambria" pitchFamily="34" charset="0"/>
                <a:ea typeface="Cambria" pitchFamily="34" charset="-122"/>
                <a:cs typeface="Cambria" pitchFamily="34" charset="-120"/>
              </a:rPr>
              <a:t>Next steps</a:t>
            </a:r>
            <a:endParaRPr lang="en-US" sz="2400" dirty="0"/>
          </a:p>
        </p:txBody>
      </p:sp>
      <p:sp>
        <p:nvSpPr>
          <p:cNvPr id="16" name="Next step 1"/>
          <p:cNvSpPr/>
          <p:nvPr/>
        </p:nvSpPr>
        <p:spPr>
          <a:xfrm>
            <a:off x="6565392" y="2642616"/>
            <a:ext cx="457200" cy="457200"/>
          </a:xfrm>
          <a:prstGeom prst="ellipse">
            <a:avLst/>
          </a:prstGeom>
          <a:solidFill>
            <a:schemeClr val="accent1"/>
          </a:solidFill>
          <a:ln/>
        </p:spPr>
      </p:sp>
      <p:sp>
        <p:nvSpPr>
          <p:cNvPr id="17" name="Text 14"/>
          <p:cNvSpPr txBox="1"/>
          <p:nvPr/>
        </p:nvSpPr>
        <p:spPr>
          <a:xfrm>
            <a:off x="6565392" y="2642616"/>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18" name="Text 15"/>
          <p:cNvSpPr txBox="1"/>
          <p:nvPr/>
        </p:nvSpPr>
        <p:spPr>
          <a:xfrm>
            <a:off x="7205472" y="2606040"/>
            <a:ext cx="4114800" cy="548640"/>
          </a:xfrm>
          <a:prstGeom prst="rect">
            <a:avLst/>
          </a:prstGeom>
          <a:noFill/>
          <a:ln/>
        </p:spPr>
        <p:txBody>
          <a:bodyPr wrap="square" lIns="0" tIns="0" rIns="0" bIns="0" rtlCol="0" anchor="ctr"/>
          <a:lstStyle/>
          <a:p>
            <a:pPr indent="0" marL="0">
              <a:buNone/>
            </a:pPr>
            <a:r>
              <a:rPr lang="en-US" sz="1700" dirty="0">
                <a:solidFill>
                  <a:schemeClr val="tx1"/>
                </a:solidFill>
              </a:rPr>
              <a:t>Set up email</a:t>
            </a:r>
            <a:endParaRPr lang="en-US" sz="1700" dirty="0"/>
          </a:p>
        </p:txBody>
      </p:sp>
      <p:sp>
        <p:nvSpPr>
          <p:cNvPr id="19" name="Next step 2"/>
          <p:cNvSpPr/>
          <p:nvPr/>
        </p:nvSpPr>
        <p:spPr>
          <a:xfrm>
            <a:off x="6565392" y="3337560"/>
            <a:ext cx="457200" cy="457200"/>
          </a:xfrm>
          <a:prstGeom prst="ellipse">
            <a:avLst/>
          </a:prstGeom>
          <a:solidFill>
            <a:schemeClr val="accent1"/>
          </a:solidFill>
          <a:ln/>
        </p:spPr>
      </p:sp>
      <p:sp>
        <p:nvSpPr>
          <p:cNvPr id="20" name="Text 17"/>
          <p:cNvSpPr txBox="1"/>
          <p:nvPr/>
        </p:nvSpPr>
        <p:spPr>
          <a:xfrm>
            <a:off x="6565392" y="33375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21" name="Text 18"/>
          <p:cNvSpPr txBox="1"/>
          <p:nvPr/>
        </p:nvSpPr>
        <p:spPr>
          <a:xfrm>
            <a:off x="7205472" y="3300984"/>
            <a:ext cx="4114800" cy="548640"/>
          </a:xfrm>
          <a:prstGeom prst="rect">
            <a:avLst/>
          </a:prstGeom>
          <a:noFill/>
          <a:ln/>
        </p:spPr>
        <p:txBody>
          <a:bodyPr wrap="square" lIns="0" tIns="0" rIns="0" bIns="0" rtlCol="0" anchor="ctr"/>
          <a:lstStyle/>
          <a:p>
            <a:pPr indent="0" marL="0">
              <a:buNone/>
            </a:pPr>
            <a:r>
              <a:rPr lang="en-US" sz="1700" dirty="0">
                <a:solidFill>
                  <a:schemeClr val="tx1"/>
                </a:solidFill>
              </a:rPr>
              <a:t>Move to paid hosting, data kept in the Philippines</a:t>
            </a:r>
            <a:endParaRPr lang="en-US" sz="1700" dirty="0"/>
          </a:p>
        </p:txBody>
      </p:sp>
      <p:sp>
        <p:nvSpPr>
          <p:cNvPr id="22" name="Next step 3"/>
          <p:cNvSpPr/>
          <p:nvPr/>
        </p:nvSpPr>
        <p:spPr>
          <a:xfrm>
            <a:off x="6565392" y="4032504"/>
            <a:ext cx="457200" cy="457200"/>
          </a:xfrm>
          <a:prstGeom prst="ellipse">
            <a:avLst/>
          </a:prstGeom>
          <a:solidFill>
            <a:schemeClr val="accent1"/>
          </a:solidFill>
          <a:ln/>
        </p:spPr>
      </p:sp>
      <p:sp>
        <p:nvSpPr>
          <p:cNvPr id="23" name="Text 20"/>
          <p:cNvSpPr txBox="1"/>
          <p:nvPr/>
        </p:nvSpPr>
        <p:spPr>
          <a:xfrm>
            <a:off x="6565392" y="4032504"/>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24" name="Text 21"/>
          <p:cNvSpPr txBox="1"/>
          <p:nvPr/>
        </p:nvSpPr>
        <p:spPr>
          <a:xfrm>
            <a:off x="7205472" y="3995928"/>
            <a:ext cx="4114800" cy="548640"/>
          </a:xfrm>
          <a:prstGeom prst="rect">
            <a:avLst/>
          </a:prstGeom>
          <a:noFill/>
          <a:ln/>
        </p:spPr>
        <p:txBody>
          <a:bodyPr wrap="square" lIns="0" tIns="0" rIns="0" bIns="0" rtlCol="0" anchor="ctr"/>
          <a:lstStyle/>
          <a:p>
            <a:pPr indent="0" marL="0">
              <a:buNone/>
            </a:pPr>
            <a:r>
              <a:rPr lang="en-US" sz="1700" dirty="0">
                <a:solidFill>
                  <a:schemeClr val="tx1"/>
                </a:solidFill>
              </a:rPr>
              <a:t>Load every fee schedule</a:t>
            </a:r>
            <a:endParaRPr lang="en-US" sz="1700" dirty="0"/>
          </a:p>
        </p:txBody>
      </p:sp>
      <p:sp>
        <p:nvSpPr>
          <p:cNvPr id="25" name="Next step 4"/>
          <p:cNvSpPr/>
          <p:nvPr/>
        </p:nvSpPr>
        <p:spPr>
          <a:xfrm>
            <a:off x="6565392" y="4727448"/>
            <a:ext cx="457200" cy="457200"/>
          </a:xfrm>
          <a:prstGeom prst="ellipse">
            <a:avLst/>
          </a:prstGeom>
          <a:solidFill>
            <a:schemeClr val="accent1"/>
          </a:solidFill>
          <a:ln/>
        </p:spPr>
      </p:sp>
      <p:sp>
        <p:nvSpPr>
          <p:cNvPr id="26" name="Text 23"/>
          <p:cNvSpPr txBox="1"/>
          <p:nvPr/>
        </p:nvSpPr>
        <p:spPr>
          <a:xfrm>
            <a:off x="6565392" y="472744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7" name="Text 24"/>
          <p:cNvSpPr txBox="1"/>
          <p:nvPr/>
        </p:nvSpPr>
        <p:spPr>
          <a:xfrm>
            <a:off x="7205472" y="4690872"/>
            <a:ext cx="4114800" cy="548640"/>
          </a:xfrm>
          <a:prstGeom prst="rect">
            <a:avLst/>
          </a:prstGeom>
          <a:noFill/>
          <a:ln/>
        </p:spPr>
        <p:txBody>
          <a:bodyPr wrap="square" lIns="0" tIns="0" rIns="0" bIns="0" rtlCol="0" anchor="ctr"/>
          <a:lstStyle/>
          <a:p>
            <a:pPr indent="0" marL="0">
              <a:buNone/>
            </a:pPr>
            <a:r>
              <a:rPr lang="en-US" sz="1700" dirty="0">
                <a:solidFill>
                  <a:schemeClr val="tx1"/>
                </a:solidFill>
              </a:rPr>
              <a:t>Train the registrar and the cashier</a:t>
            </a:r>
            <a:endParaRPr lang="en-US" sz="1700" dirty="0"/>
          </a:p>
        </p:txBody>
      </p:sp>
      <p:sp>
        <p:nvSpPr>
          <p:cNvPr id="28" name="Next step 5"/>
          <p:cNvSpPr/>
          <p:nvPr/>
        </p:nvSpPr>
        <p:spPr>
          <a:xfrm>
            <a:off x="6565392" y="5422392"/>
            <a:ext cx="457200" cy="457200"/>
          </a:xfrm>
          <a:prstGeom prst="ellipse">
            <a:avLst/>
          </a:prstGeom>
          <a:solidFill>
            <a:schemeClr val="accent1"/>
          </a:solidFill>
          <a:ln/>
        </p:spPr>
      </p:sp>
      <p:sp>
        <p:nvSpPr>
          <p:cNvPr id="29" name="Text 26"/>
          <p:cNvSpPr txBox="1"/>
          <p:nvPr/>
        </p:nvSpPr>
        <p:spPr>
          <a:xfrm>
            <a:off x="6565392" y="5422392"/>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30" name="Text 27"/>
          <p:cNvSpPr txBox="1"/>
          <p:nvPr/>
        </p:nvSpPr>
        <p:spPr>
          <a:xfrm>
            <a:off x="7205472" y="5385816"/>
            <a:ext cx="4114800" cy="548640"/>
          </a:xfrm>
          <a:prstGeom prst="rect">
            <a:avLst/>
          </a:prstGeom>
          <a:noFill/>
          <a:ln/>
        </p:spPr>
        <p:txBody>
          <a:bodyPr wrap="square" lIns="0" tIns="0" rIns="0" bIns="0" rtlCol="0" anchor="ctr"/>
          <a:lstStyle/>
          <a:p>
            <a:pPr indent="0" marL="0">
              <a:buNone/>
            </a:pPr>
            <a:r>
              <a:rPr lang="en-US" sz="1700" dirty="0">
                <a:solidFill>
                  <a:schemeClr val="tx1"/>
                </a:solidFill>
              </a:rPr>
              <a:t>Run one term as a supervised pilot</a:t>
            </a:r>
            <a:endParaRPr lang="en-US" sz="17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B"/>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School seal" descr="School seal">    </p:cNvPr>
          <p:cNvPicPr>
            <a:picLocks noChangeAspect="1"/>
          </p:cNvPicPr>
          <p:nvPr/>
        </p:nvPicPr>
        <p:blipFill>
          <a:blip r:embed="rId1"/>
          <a:stretch>
            <a:fillRect/>
          </a:stretch>
        </p:blipFill>
        <p:spPr>
          <a:xfrm>
            <a:off x="548640" y="502920"/>
            <a:ext cx="868680" cy="868680"/>
          </a:xfrm>
          <a:prstGeom prst="ellipse">
            <a:avLst/>
          </a:prstGeom>
        </p:spPr>
      </p:pic>
      <p:sp>
        <p:nvSpPr>
          <p:cNvPr id="3" name="School name"/>
          <p:cNvSpPr txBox="1"/>
          <p:nvPr/>
        </p:nvSpPr>
        <p:spPr>
          <a:xfrm>
            <a:off x="1600200" y="594360"/>
            <a:ext cx="5029200" cy="685800"/>
          </a:xfrm>
          <a:prstGeom prst="rect">
            <a:avLst/>
          </a:prstGeom>
          <a:noFill/>
          <a:ln/>
        </p:spPr>
        <p:txBody>
          <a:bodyPr wrap="square" lIns="0" tIns="0" rIns="0" bIns="0" rtlCol="0" anchor="ctr"/>
          <a:lstStyle/>
          <a:p>
            <a:pPr indent="0" marL="0">
              <a:buNone/>
            </a:pPr>
            <a:r>
              <a:rPr lang="en-US" sz="1800" b="1" dirty="0">
                <a:solidFill>
                  <a:schemeClr val="bg1"/>
                </a:solidFill>
              </a:rPr>
              <a:t>Lyceum of the East Aurora Inc.</a:t>
            </a:r>
            <a:endParaRPr lang="en-US" sz="1800" dirty="0"/>
          </a:p>
        </p:txBody>
      </p:sp>
      <p:sp>
        <p:nvSpPr>
          <p:cNvPr id="4" name="Thank you"/>
          <p:cNvSpPr txBox="1"/>
          <p:nvPr/>
        </p:nvSpPr>
        <p:spPr>
          <a:xfrm>
            <a:off x="548640" y="1965960"/>
            <a:ext cx="5852160" cy="1143000"/>
          </a:xfrm>
          <a:prstGeom prst="rect">
            <a:avLst/>
          </a:prstGeom>
          <a:noFill/>
          <a:ln/>
        </p:spPr>
        <p:txBody>
          <a:bodyPr wrap="square" lIns="0" tIns="0" rIns="0" bIns="0" rtlCol="0" anchor="ctr"/>
          <a:lstStyle/>
          <a:p>
            <a:pPr indent="0" marL="0">
              <a:buNone/>
            </a:pPr>
            <a:r>
              <a:rPr lang="en-US" sz="6600" b="1" dirty="0">
                <a:solidFill>
                  <a:schemeClr val="bg1"/>
                </a:solidFill>
                <a:latin typeface="Cambria" pitchFamily="34" charset="0"/>
                <a:ea typeface="Cambria" pitchFamily="34" charset="-122"/>
                <a:cs typeface="Cambria" pitchFamily="34" charset="-120"/>
              </a:rPr>
              <a:t>Thank you</a:t>
            </a:r>
            <a:endParaRPr lang="en-US" sz="6600" dirty="0"/>
          </a:p>
        </p:txBody>
      </p:sp>
      <p:sp>
        <p:nvSpPr>
          <p:cNvPr id="5" name="Questions"/>
          <p:cNvSpPr txBox="1"/>
          <p:nvPr/>
        </p:nvSpPr>
        <p:spPr>
          <a:xfrm>
            <a:off x="548640" y="3200400"/>
            <a:ext cx="5669280" cy="822960"/>
          </a:xfrm>
          <a:prstGeom prst="rect">
            <a:avLst/>
          </a:prstGeom>
          <a:noFill/>
          <a:ln/>
        </p:spPr>
        <p:txBody>
          <a:bodyPr wrap="square" lIns="0" tIns="0" rIns="0" bIns="0" rtlCol="0" anchor="ctr"/>
          <a:lstStyle/>
          <a:p>
            <a:pPr indent="0" marL="0">
              <a:buNone/>
            </a:pPr>
            <a:r>
              <a:rPr lang="en-US" sz="3600" dirty="0">
                <a:solidFill>
                  <a:schemeClr val="accent2"/>
                </a:solidFill>
              </a:rPr>
              <a:t>Questions?</a:t>
            </a:r>
            <a:endParaRPr lang="en-US" sz="3600" dirty="0"/>
          </a:p>
        </p:txBody>
      </p:sp>
      <p:sp>
        <p:nvSpPr>
          <p:cNvPr id="6" name="Presented by"/>
          <p:cNvSpPr txBox="1"/>
          <p:nvPr/>
        </p:nvSpPr>
        <p:spPr>
          <a:xfrm>
            <a:off x="548640" y="4343400"/>
            <a:ext cx="5486400" cy="274320"/>
          </a:xfrm>
          <a:prstGeom prst="rect">
            <a:avLst/>
          </a:prstGeom>
          <a:noFill/>
          <a:ln/>
        </p:spPr>
        <p:txBody>
          <a:bodyPr wrap="square" lIns="0" tIns="0" rIns="0" bIns="0" rtlCol="0" anchor="ctr"/>
          <a:lstStyle/>
          <a:p>
            <a:pPr indent="0" marL="0">
              <a:buNone/>
            </a:pPr>
            <a:r>
              <a:rPr lang="en-US" sz="1300" b="1" spc="200" kern="0" dirty="0">
                <a:solidFill>
                  <a:schemeClr val="accent2"/>
                </a:solidFill>
              </a:rPr>
              <a:t>PRESENTED BY</a:t>
            </a:r>
            <a:endParaRPr lang="en-US" sz="1300" dirty="0"/>
          </a:p>
        </p:txBody>
      </p:sp>
      <p:sp>
        <p:nvSpPr>
          <p:cNvPr id="7" name="Team column 1"/>
          <p:cNvSpPr txBox="1"/>
          <p:nvPr/>
        </p:nvSpPr>
        <p:spPr>
          <a:xfrm>
            <a:off x="548640" y="4709160"/>
            <a:ext cx="2834640" cy="1051560"/>
          </a:xfrm>
          <a:prstGeom prst="rect">
            <a:avLst/>
          </a:prstGeom>
          <a:noFill/>
          <a:ln/>
        </p:spPr>
        <p:txBody>
          <a:bodyPr wrap="square" lIns="0" tIns="0" rIns="0" bIns="0" rtlCol="0" anchor="t"/>
          <a:lstStyle/>
          <a:p>
            <a:pPr indent="0" marL="0">
              <a:spcAft>
                <a:spcPts val="200"/>
              </a:spcAft>
              <a:buNone/>
            </a:pPr>
            <a:r>
              <a:rPr lang="en-US" sz="1600" dirty="0">
                <a:solidFill>
                  <a:schemeClr val="bg1"/>
                </a:solidFill>
              </a:rPr>
              <a:t>Shella Erika Gomez</a:t>
            </a:r>
            <a:endParaRPr lang="en-US" sz="1600" dirty="0"/>
          </a:p>
          <a:p>
            <a:pPr indent="0" marL="0">
              <a:spcAft>
                <a:spcPts val="200"/>
              </a:spcAft>
              <a:buNone/>
            </a:pPr>
            <a:r>
              <a:rPr lang="en-US" sz="1600" dirty="0">
                <a:solidFill>
                  <a:schemeClr val="bg1"/>
                </a:solidFill>
              </a:rPr>
              <a:t>Juvirena P. Pascual</a:t>
            </a:r>
            <a:endParaRPr lang="en-US" sz="1600" dirty="0"/>
          </a:p>
          <a:p>
            <a:pPr indent="0" marL="0">
              <a:spcAft>
                <a:spcPts val="200"/>
              </a:spcAft>
              <a:buNone/>
            </a:pPr>
            <a:r>
              <a:rPr lang="en-US" sz="1600" dirty="0">
                <a:solidFill>
                  <a:schemeClr val="bg1"/>
                </a:solidFill>
              </a:rPr>
              <a:t>Chunlie L. Martinez</a:t>
            </a:r>
            <a:endParaRPr lang="en-US" sz="1600" dirty="0"/>
          </a:p>
        </p:txBody>
      </p:sp>
      <p:sp>
        <p:nvSpPr>
          <p:cNvPr id="8" name="Team column 2"/>
          <p:cNvSpPr txBox="1"/>
          <p:nvPr/>
        </p:nvSpPr>
        <p:spPr>
          <a:xfrm>
            <a:off x="3474720" y="4709160"/>
            <a:ext cx="2834640" cy="1051560"/>
          </a:xfrm>
          <a:prstGeom prst="rect">
            <a:avLst/>
          </a:prstGeom>
          <a:noFill/>
          <a:ln/>
        </p:spPr>
        <p:txBody>
          <a:bodyPr wrap="square" lIns="0" tIns="0" rIns="0" bIns="0" rtlCol="0" anchor="t"/>
          <a:lstStyle/>
          <a:p>
            <a:pPr indent="0" marL="0">
              <a:spcAft>
                <a:spcPts val="200"/>
              </a:spcAft>
              <a:buNone/>
            </a:pPr>
            <a:r>
              <a:rPr lang="en-US" sz="1600" dirty="0">
                <a:solidFill>
                  <a:schemeClr val="bg1"/>
                </a:solidFill>
              </a:rPr>
              <a:t>Kyla J. Verial</a:t>
            </a:r>
            <a:endParaRPr lang="en-US" sz="1600" dirty="0"/>
          </a:p>
          <a:p>
            <a:pPr indent="0" marL="0">
              <a:spcAft>
                <a:spcPts val="200"/>
              </a:spcAft>
              <a:buNone/>
            </a:pPr>
            <a:r>
              <a:rPr lang="en-US" sz="1600" dirty="0">
                <a:solidFill>
                  <a:schemeClr val="bg1"/>
                </a:solidFill>
              </a:rPr>
              <a:t>Carlo Jay I. Villaflor</a:t>
            </a:r>
            <a:endParaRPr lang="en-US" sz="1600" dirty="0"/>
          </a:p>
          <a:p>
            <a:pPr indent="0" marL="0">
              <a:spcAft>
                <a:spcPts val="200"/>
              </a:spcAft>
              <a:buNone/>
            </a:pPr>
            <a:r>
              <a:rPr lang="en-US" sz="1600" dirty="0">
                <a:solidFill>
                  <a:schemeClr val="bg1"/>
                </a:solidFill>
              </a:rPr>
              <a:t>John Carmel M. Galande</a:t>
            </a:r>
            <a:endParaRPr lang="en-US" sz="1600" dirty="0"/>
          </a:p>
        </p:txBody>
      </p:sp>
      <p:sp>
        <p:nvSpPr>
          <p:cNvPr id="9" name="Course and date"/>
          <p:cNvSpPr txBox="1"/>
          <p:nvPr/>
        </p:nvSpPr>
        <p:spPr>
          <a:xfrm>
            <a:off x="548640" y="5897880"/>
            <a:ext cx="5852160" cy="365760"/>
          </a:xfrm>
          <a:prstGeom prst="rect">
            <a:avLst/>
          </a:prstGeom>
          <a:noFill/>
          <a:ln/>
        </p:spPr>
        <p:txBody>
          <a:bodyPr wrap="square" lIns="0" tIns="0" rIns="0" bIns="0" rtlCol="0" anchor="ctr"/>
          <a:lstStyle/>
          <a:p>
            <a:pPr indent="0" marL="0">
              <a:buNone/>
            </a:pPr>
            <a:r>
              <a:rPr lang="en-US" sz="1500" dirty="0">
                <a:solidFill>
                  <a:schemeClr val="accent2"/>
                </a:solidFill>
              </a:rPr>
              <a:t>Accountancy, 2nd Year   ·   October 16, 2026</a:t>
            </a:r>
            <a:endParaRPr lang="en-US" sz="1500" dirty="0"/>
          </a:p>
        </p:txBody>
      </p:sp>
      <p:sp>
        <p:nvSpPr>
          <p:cNvPr id="10" name="Student dashboard screenshot frame"/>
          <p:cNvSpPr/>
          <p:nvPr/>
        </p:nvSpPr>
        <p:spPr>
          <a:xfrm>
            <a:off x="6675120" y="1783080"/>
            <a:ext cx="4983480" cy="3118104"/>
          </a:xfrm>
          <a:prstGeom prst="roundRect">
            <a:avLst>
              <a:gd name="adj" fmla="val 2346"/>
            </a:avLst>
          </a:prstGeom>
          <a:solidFill>
            <a:schemeClr val="bg1"/>
          </a:solidFill>
          <a:ln w="12700">
            <a:solidFill>
              <a:srgbClr val="EAF3FB"/>
            </a:solidFill>
            <a:prstDash val="solid"/>
          </a:ln>
          <a:effectLst>
            <a:outerShdw sx="100000" sy="100000" kx="0" ky="0" algn="bl" rotWithShape="0" blurRad="101600" dist="38100" dir="5400000">
              <a:srgbClr val="000000">
                <a:alpha val="18000"/>
              </a:srgbClr>
            </a:outerShdw>
          </a:effectLst>
        </p:spPr>
      </p:sp>
      <p:pic>
        <p:nvPicPr>
          <p:cNvPr id="11" name="Student dashboard screenshot" descr="Student dashboard screenshot">    </p:cNvPr>
          <p:cNvPicPr>
            <a:picLocks noChangeAspect="1"/>
          </p:cNvPicPr>
          <p:nvPr/>
        </p:nvPicPr>
        <p:blipFill>
          <a:blip r:embed="rId2"/>
          <a:stretch>
            <a:fillRect/>
          </a:stretch>
        </p:blipFill>
        <p:spPr>
          <a:xfrm>
            <a:off x="6729984" y="1837944"/>
            <a:ext cx="4873752" cy="3008376"/>
          </a:xfrm>
          <a:prstGeom prst="rect">
            <a:avLst/>
          </a:prstGeom>
        </p:spPr>
      </p:pic>
    </p:spTree>
  </p:cSld>
  <p:clrMapOvr>
    <a:masterClrMapping/>
  </p:clrMapOvr>
</p:sld>
</file>

<file path=ppt/theme/theme1.xml><?xml version="1.0" encoding="utf-8"?>
<a:theme xmlns:a="http://schemas.openxmlformats.org/drawingml/2006/main" name="Lyceum Blue">
  <a:themeElements>
    <a:clrScheme name="Lyceum Blue">
      <a:dk1>
        <a:srgbClr val="1B2A3A"/>
      </a:dk1>
      <a:lt1>
        <a:srgbClr val="FFFFFF"/>
      </a:lt1>
      <a:dk2>
        <a:srgbClr val="173F63"/>
      </a:dk2>
      <a:lt2>
        <a:srgbClr val="EAF3FB"/>
      </a:lt2>
      <a:accent1>
        <a:srgbClr val="1F6FB2"/>
      </a:accent1>
      <a:accent2>
        <a:srgbClr val="6FB1E4"/>
      </a:accent2>
      <a:accent3>
        <a:srgbClr val="E8A317"/>
      </a:accent3>
      <a:accent4>
        <a:srgbClr val="2E8B57"/>
      </a:accent4>
      <a:accent5>
        <a:srgbClr val="C0392B"/>
      </a:accent5>
      <a:accent6>
        <a:srgbClr val="5B6B7B"/>
      </a:accent6>
      <a:hlink>
        <a:srgbClr val="1F6FB2"/>
      </a:hlink>
      <a:folHlink>
        <a:srgbClr val="5B6B7B"/>
      </a:folHlink>
    </a:clrScheme>
    <a:fontScheme name="Lyceum Blu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Lyceum of the East Aurora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SchoolHub: Enrollment and School Management System</dc:title>
  <dc:subject>PptxGenJS Presentation</dc:subject>
  <dc:creator>Shella Erika Gomez, Juvirena P. Pascual, Chunlie L. Martinez, Kyla J. Verial, Carlo Jay I. Villaflor, John Carmel M. Galande</dc:creator>
  <cp:lastModifiedBy>Shella Erika Gomez, Juvirena P. Pascual, Chunlie L. Martinez, Kyla J. Verial, Carlo Jay I. Villaflor, John Carmel M. Galande</cp:lastModifiedBy>
  <cp:revision>1</cp:revision>
  <dcterms:created xsi:type="dcterms:W3CDTF">2026-10-14T08:50:37Z</dcterms:created>
  <dcterms:modified xsi:type="dcterms:W3CDTF">2026-10-14T08:50:37Z</dcterms:modified>
</cp:coreProperties>
</file>